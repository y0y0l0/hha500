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5" r:id="rId2"/>
    <p:sldId id="256" r:id="rId3"/>
    <p:sldId id="261" r:id="rId4"/>
    <p:sldId id="257" r:id="rId5"/>
    <p:sldId id="263" r:id="rId6"/>
    <p:sldId id="258" r:id="rId7"/>
    <p:sldId id="259" r:id="rId8"/>
    <p:sldId id="260"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25182" autoAdjust="0"/>
  </p:normalViewPr>
  <p:slideViewPr>
    <p:cSldViewPr snapToGrid="0">
      <p:cViewPr varScale="1">
        <p:scale>
          <a:sx n="27" d="100"/>
          <a:sy n="27" d="100"/>
        </p:scale>
        <p:origin x="3798" y="6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5C2F86-2DF7-47AA-B985-149816CD539A}" type="datetimeFigureOut">
              <a:rPr lang="en-US" smtClean="0"/>
              <a:t>6/27/2026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6BB88B-5857-47ED-B24F-99FA793089D8}" type="slidenum">
              <a:rPr lang="en-US" smtClean="0"/>
              <a:t>‹#›</a:t>
            </a:fld>
            <a:endParaRPr lang="en-US"/>
          </a:p>
        </p:txBody>
      </p:sp>
    </p:spTree>
    <p:extLst>
      <p:ext uri="{BB962C8B-B14F-4D97-AF65-F5344CB8AC3E}">
        <p14:creationId xmlns:p14="http://schemas.microsoft.com/office/powerpoint/2010/main" val="1670587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dirty="0">
                <a:effectLst/>
                <a:latin typeface="Calibri" panose="020F0502020204030204" pitchFamily="34" charset="0"/>
              </a:rPr>
              <a:t>Hello my name is Yatza and will be going through </a:t>
            </a:r>
          </a:p>
          <a:p>
            <a:pPr marL="0" marR="0">
              <a:spcBef>
                <a:spcPts val="0"/>
              </a:spcBef>
              <a:spcAft>
                <a:spcPts val="0"/>
              </a:spcAft>
            </a:pPr>
            <a:r>
              <a:rPr lang="en-US" sz="1800" dirty="0">
                <a:effectLst/>
                <a:latin typeface="Calibri" panose="020F0502020204030204" pitchFamily="34" charset="0"/>
              </a:rPr>
              <a:t>the outlook of our future healthcare system.</a:t>
            </a:r>
          </a:p>
          <a:p>
            <a:pPr marL="0" marR="0">
              <a:spcBef>
                <a:spcPts val="0"/>
              </a:spcBef>
              <a:spcAft>
                <a:spcPts val="0"/>
              </a:spcAft>
            </a:pPr>
            <a:r>
              <a:rPr lang="en-US" sz="1800" dirty="0">
                <a:effectLst/>
                <a:latin typeface="Calibri" panose="020F0502020204030204" pitchFamily="34" charset="0"/>
              </a:rPr>
              <a:t>To understand where healthcare is heading in the next 10-15 years, we first need to understand the limitations of system today.</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By identifying these gaps and pain points, we can better envision a healthcare system designed around health rather than healthcare utilization.</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While Dr. Neuwirth's </a:t>
            </a:r>
            <a:r>
              <a:rPr lang="en-US" sz="1800" i="1" dirty="0">
                <a:effectLst/>
                <a:latin typeface="Calibri" panose="020F0502020204030204" pitchFamily="34" charset="0"/>
              </a:rPr>
              <a:t>Beyond the Walls</a:t>
            </a:r>
            <a:r>
              <a:rPr lang="en-US" sz="1800" dirty="0">
                <a:effectLst/>
                <a:latin typeface="Calibri" panose="020F0502020204030204" pitchFamily="34" charset="0"/>
              </a:rPr>
              <a:t> focuses on the positive transformation already underway, he argues that many of the United States' healthcare challenges remain rooted in legacy policies and outdated business models</a:t>
            </a:r>
          </a:p>
          <a:p>
            <a:endParaRPr lang="en-US" dirty="0"/>
          </a:p>
        </p:txBody>
      </p:sp>
      <p:sp>
        <p:nvSpPr>
          <p:cNvPr id="4" name="Slide Number Placeholder 3"/>
          <p:cNvSpPr>
            <a:spLocks noGrp="1"/>
          </p:cNvSpPr>
          <p:nvPr>
            <p:ph type="sldNum" sz="quarter" idx="5"/>
          </p:nvPr>
        </p:nvSpPr>
        <p:spPr/>
        <p:txBody>
          <a:bodyPr/>
          <a:lstStyle/>
          <a:p>
            <a:fld id="{216BB88B-5857-47ED-B24F-99FA793089D8}" type="slidenum">
              <a:rPr lang="en-US" smtClean="0"/>
              <a:t>1</a:t>
            </a:fld>
            <a:endParaRPr lang="en-US"/>
          </a:p>
        </p:txBody>
      </p:sp>
    </p:spTree>
    <p:extLst>
      <p:ext uri="{BB962C8B-B14F-4D97-AF65-F5344CB8AC3E}">
        <p14:creationId xmlns:p14="http://schemas.microsoft.com/office/powerpoint/2010/main" val="2796720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dirty="0">
                <a:effectLst/>
                <a:latin typeface="Calibri" panose="020F0502020204030204" pitchFamily="34" charset="0"/>
              </a:rPr>
              <a:t>Fee-for-service reimbursement incentivizes the volume of healthcare services rather than improving health outcomes.</a:t>
            </a:r>
          </a:p>
          <a:p>
            <a:pPr marL="0" marR="0">
              <a:spcBef>
                <a:spcPts val="0"/>
              </a:spcBef>
              <a:spcAft>
                <a:spcPts val="0"/>
              </a:spcAft>
            </a:pPr>
            <a:r>
              <a:rPr lang="en-US" sz="1800" dirty="0">
                <a:effectLst/>
                <a:latin typeface="Calibri" panose="020F0502020204030204" pitchFamily="34" charset="0"/>
              </a:rPr>
              <a:t>Hospital-based systems require significant fixed operating costs, creating financial pressure to maintain high service volumes.</a:t>
            </a:r>
          </a:p>
          <a:p>
            <a:pPr marL="0" marR="0">
              <a:spcBef>
                <a:spcPts val="0"/>
              </a:spcBef>
              <a:spcAft>
                <a:spcPts val="0"/>
              </a:spcAft>
            </a:pPr>
            <a:r>
              <a:rPr lang="en-US" sz="1800" dirty="0">
                <a:effectLst/>
                <a:latin typeface="Calibri" panose="020F0502020204030204" pitchFamily="34" charset="0"/>
              </a:rPr>
              <a:t>The traditional model of healthcare, which focuses primarily on treating medical conditions, often overlooks the social and contextual factors that drive health outcomes.</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With rising healthcare costs and a growing shortage of clinicians, we must restructure not only our healthcare system but also our mindsets. </a:t>
            </a:r>
          </a:p>
          <a:p>
            <a:pPr marL="0" marR="0">
              <a:spcBef>
                <a:spcPts val="0"/>
              </a:spcBef>
              <a:spcAft>
                <a:spcPts val="0"/>
              </a:spcAft>
            </a:pPr>
            <a:r>
              <a:rPr lang="en-US" sz="1800" dirty="0">
                <a:effectLst/>
                <a:latin typeface="Calibri" panose="020F0502020204030204" pitchFamily="34" charset="0"/>
              </a:rPr>
              <a:t>Our goal should be to build a healthier society that supports people every day—not just when they are sick.</a:t>
            </a:r>
          </a:p>
          <a:p>
            <a:pPr marL="0" marR="0">
              <a:spcBef>
                <a:spcPts val="0"/>
              </a:spcBef>
              <a:spcAft>
                <a:spcPts val="0"/>
              </a:spcAft>
            </a:pPr>
            <a:r>
              <a:rPr lang="en-US" sz="1800" dirty="0">
                <a:effectLst/>
                <a:latin typeface="Calibri" panose="020F0502020204030204" pitchFamily="34" charset="0"/>
              </a:rPr>
              <a:t> </a:t>
            </a:r>
          </a:p>
          <a:p>
            <a:endParaRPr lang="en-US" dirty="0"/>
          </a:p>
        </p:txBody>
      </p:sp>
      <p:sp>
        <p:nvSpPr>
          <p:cNvPr id="4" name="Slide Number Placeholder 3"/>
          <p:cNvSpPr>
            <a:spLocks noGrp="1"/>
          </p:cNvSpPr>
          <p:nvPr>
            <p:ph type="sldNum" sz="quarter" idx="5"/>
          </p:nvPr>
        </p:nvSpPr>
        <p:spPr/>
        <p:txBody>
          <a:bodyPr/>
          <a:lstStyle/>
          <a:p>
            <a:fld id="{216BB88B-5857-47ED-B24F-99FA793089D8}" type="slidenum">
              <a:rPr lang="en-US" smtClean="0"/>
              <a:t>2</a:t>
            </a:fld>
            <a:endParaRPr lang="en-US"/>
          </a:p>
        </p:txBody>
      </p:sp>
    </p:spTree>
    <p:extLst>
      <p:ext uri="{BB962C8B-B14F-4D97-AF65-F5344CB8AC3E}">
        <p14:creationId xmlns:p14="http://schemas.microsoft.com/office/powerpoint/2010/main" val="2273618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dirty="0">
                <a:effectLst/>
                <a:latin typeface="Calibri" panose="020F0502020204030204" pitchFamily="34" charset="0"/>
              </a:rPr>
              <a:t>To facilitate a proactive approach to medicine, we need to eliminate barriers in three key domains: Literal, Conceptual, and Systematic.</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b="1" dirty="0">
                <a:effectLst/>
                <a:latin typeface="Calibri" panose="020F0502020204030204" pitchFamily="34" charset="0"/>
              </a:rPr>
              <a:t>Literal</a:t>
            </a:r>
            <a:endParaRPr lang="en-US" sz="1800" dirty="0">
              <a:effectLst/>
              <a:latin typeface="Calibri" panose="020F0502020204030204" pitchFamily="34" charset="0"/>
            </a:endParaRP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Literal barriers focus on resolving health inequity problems. </a:t>
            </a:r>
            <a:br>
              <a:rPr lang="en-US" sz="1800" dirty="0">
                <a:effectLst/>
                <a:latin typeface="Calibri" panose="020F0502020204030204" pitchFamily="34" charset="0"/>
              </a:rPr>
            </a:br>
            <a:r>
              <a:rPr lang="en-US" sz="1800" dirty="0">
                <a:effectLst/>
                <a:latin typeface="Calibri" panose="020F0502020204030204" pitchFamily="34" charset="0"/>
              </a:rPr>
              <a:t>By making access to care less cumbersome through virtual care, digital communication, and text-based support.</a:t>
            </a:r>
          </a:p>
          <a:p>
            <a:pPr marL="0" marR="0">
              <a:spcBef>
                <a:spcPts val="0"/>
              </a:spcBef>
              <a:spcAft>
                <a:spcPts val="0"/>
              </a:spcAft>
            </a:pPr>
            <a:r>
              <a:rPr lang="en-US" sz="1800" dirty="0">
                <a:effectLst/>
                <a:latin typeface="Calibri" panose="020F0502020204030204" pitchFamily="34" charset="0"/>
              </a:rPr>
              <a:t>Automating routine patient questions can reduce administrative burden on clinicians, allowing them more time with their patients.</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b="1" dirty="0">
                <a:effectLst/>
                <a:latin typeface="Calibri" panose="020F0502020204030204" pitchFamily="34" charset="0"/>
              </a:rPr>
              <a:t>Conceptual</a:t>
            </a:r>
            <a:endParaRPr lang="en-US" sz="1800" dirty="0">
              <a:effectLst/>
              <a:latin typeface="Calibri" panose="020F0502020204030204" pitchFamily="34" charset="0"/>
            </a:endParaRP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Conceptual barriers stem from traditional healthcare were the focus is on treating illness instead of addressing the whole person. To elevate care management we need to evaluate patients' social environments, relationships, and daily living conditions.</a:t>
            </a:r>
          </a:p>
          <a:p>
            <a:pPr marL="0" marR="0">
              <a:spcBef>
                <a:spcPts val="0"/>
              </a:spcBef>
              <a:spcAft>
                <a:spcPts val="0"/>
              </a:spcAft>
            </a:pPr>
            <a:r>
              <a:rPr lang="en-US" sz="1800" dirty="0">
                <a:effectLst/>
                <a:latin typeface="Calibri" panose="020F0502020204030204" pitchFamily="34" charset="0"/>
              </a:rPr>
              <a:t>We need to become more inclusive and diversify the way we evaluate health and provide services that extend beyond medicine and feed the spirit as well as the body.</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b="1" dirty="0">
                <a:effectLst/>
                <a:latin typeface="Calibri" panose="020F0502020204030204" pitchFamily="34" charset="0"/>
              </a:rPr>
              <a:t>Systematic</a:t>
            </a:r>
            <a:endParaRPr lang="en-US" sz="1800" dirty="0">
              <a:effectLst/>
              <a:latin typeface="Calibri" panose="020F0502020204030204" pitchFamily="34" charset="0"/>
            </a:endParaRPr>
          </a:p>
          <a:p>
            <a:pPr marL="0" marR="0">
              <a:spcBef>
                <a:spcPts val="0"/>
              </a:spcBef>
              <a:spcAft>
                <a:spcPts val="0"/>
              </a:spcAft>
            </a:pPr>
            <a:r>
              <a:rPr lang="en-US" sz="1800" dirty="0">
                <a:effectLst/>
                <a:latin typeface="Calibri" panose="020F0502020204030204" pitchFamily="34" charset="0"/>
              </a:rPr>
              <a:t>Finally, the systematic barrier is our continued reliance on fee-for-service reimbursement, which does not scale well during times of crisis.</a:t>
            </a:r>
          </a:p>
          <a:p>
            <a:pPr marL="0" marR="0">
              <a:spcBef>
                <a:spcPts val="0"/>
              </a:spcBef>
              <a:spcAft>
                <a:spcPts val="0"/>
              </a:spcAft>
            </a:pPr>
            <a:r>
              <a:rPr lang="en-US" sz="1800" dirty="0">
                <a:effectLst/>
                <a:latin typeface="Calibri" panose="020F0502020204030204" pitchFamily="34" charset="0"/>
              </a:rPr>
              <a:t>Eliminating this barrier requires grit and determination to go beyond traditional merger and acquisitions to create new systems of partnerships that are non-traditional, patient-centered platforms. </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Building platforms that connect patients, clinicians, community organizations, and technology partners </a:t>
            </a:r>
            <a:r>
              <a:rPr lang="en-US" sz="1800" b="1" dirty="0">
                <a:effectLst/>
                <a:latin typeface="Calibri" panose="020F0502020204030204" pitchFamily="34" charset="0"/>
              </a:rPr>
              <a:t>creates</a:t>
            </a:r>
            <a:r>
              <a:rPr lang="en-US" sz="1800" dirty="0">
                <a:effectLst/>
                <a:latin typeface="Calibri" panose="020F0502020204030204" pitchFamily="34" charset="0"/>
              </a:rPr>
              <a:t> a sustainable ecosystem that continuously improves health outcomes.</a:t>
            </a:r>
          </a:p>
          <a:p>
            <a:endParaRPr lang="en-US" dirty="0"/>
          </a:p>
        </p:txBody>
      </p:sp>
      <p:sp>
        <p:nvSpPr>
          <p:cNvPr id="4" name="Slide Number Placeholder 3"/>
          <p:cNvSpPr>
            <a:spLocks noGrp="1"/>
          </p:cNvSpPr>
          <p:nvPr>
            <p:ph type="sldNum" sz="quarter" idx="5"/>
          </p:nvPr>
        </p:nvSpPr>
        <p:spPr/>
        <p:txBody>
          <a:bodyPr/>
          <a:lstStyle/>
          <a:p>
            <a:fld id="{216BB88B-5857-47ED-B24F-99FA793089D8}" type="slidenum">
              <a:rPr lang="en-US" smtClean="0"/>
              <a:t>3</a:t>
            </a:fld>
            <a:endParaRPr lang="en-US"/>
          </a:p>
        </p:txBody>
      </p:sp>
    </p:spTree>
    <p:extLst>
      <p:ext uri="{BB962C8B-B14F-4D97-AF65-F5344CB8AC3E}">
        <p14:creationId xmlns:p14="http://schemas.microsoft.com/office/powerpoint/2010/main" val="1731536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dirty="0">
                <a:effectLst/>
                <a:latin typeface="Calibri" panose="020F0502020204030204" pitchFamily="34" charset="0"/>
              </a:rPr>
              <a:t>So what does the future hold in healthcare?</a:t>
            </a:r>
          </a:p>
          <a:p>
            <a:pPr marL="0" marR="0">
              <a:spcBef>
                <a:spcPts val="0"/>
              </a:spcBef>
              <a:spcAft>
                <a:spcPts val="0"/>
              </a:spcAft>
            </a:pPr>
            <a:r>
              <a:rPr lang="en-US" sz="1800" dirty="0">
                <a:effectLst/>
                <a:latin typeface="Calibri" panose="020F0502020204030204" pitchFamily="34" charset="0"/>
              </a:rPr>
              <a:t>We are moving toward a more human-centered, whole-person healthcare system.</a:t>
            </a:r>
          </a:p>
          <a:p>
            <a:pPr marL="0" marR="0">
              <a:spcBef>
                <a:spcPts val="0"/>
              </a:spcBef>
              <a:spcAft>
                <a:spcPts val="0"/>
              </a:spcAft>
            </a:pPr>
            <a:r>
              <a:rPr lang="en-US" sz="1800" dirty="0">
                <a:effectLst/>
                <a:latin typeface="Calibri" panose="020F0502020204030204" pitchFamily="34" charset="0"/>
              </a:rPr>
              <a:t>Reducing waste by simplifying our payment system through models such as Medicare Advantage for value-based reimbursement and the Direct To Employer (DTE) plans to allow our hospital-based systems to expand their network and care beyond payer relationships.</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We're already seeing many hybrid healthcare organizations adopt platform and flywheel strategies to improve patient engagement and, ultimately, health outcomes.</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They have also created sophisticated AI-enabled digital platforms that support continuous monitoring, personalized recommendations, and proactive care.</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Future healthcare organizations will function as intelligent platforms rather than isolated facilities. By combining clinical information with behavioral, environmental, and social data, these systems will personalize care for each individual while continuously learning from every interaction.</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Many organizations are expanding vertically by integrating pharmacy, primary care, behavioral health, home health, and digital services into a single care ecosystem.</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According to the County Health Rankings model</a:t>
            </a:r>
          </a:p>
          <a:p>
            <a:pPr marL="0" marR="0">
              <a:spcBef>
                <a:spcPts val="0"/>
              </a:spcBef>
              <a:spcAft>
                <a:spcPts val="0"/>
              </a:spcAft>
            </a:pPr>
            <a:r>
              <a:rPr lang="en-US" sz="1800" dirty="0">
                <a:effectLst/>
                <a:latin typeface="Calibri" panose="020F0502020204030204" pitchFamily="34" charset="0"/>
              </a:rPr>
              <a:t>clinical care only accounts for (20%)</a:t>
            </a:r>
          </a:p>
          <a:p>
            <a:pPr marL="0" marR="0">
              <a:spcBef>
                <a:spcPts val="0"/>
              </a:spcBef>
              <a:spcAft>
                <a:spcPts val="0"/>
              </a:spcAft>
            </a:pPr>
            <a:r>
              <a:rPr lang="en-US" sz="1800" dirty="0">
                <a:effectLst/>
                <a:latin typeface="Calibri" panose="020F0502020204030204" pitchFamily="34" charset="0"/>
              </a:rPr>
              <a:t>social and economic factors (40%)</a:t>
            </a:r>
          </a:p>
          <a:p>
            <a:pPr marL="0" marR="0">
              <a:spcBef>
                <a:spcPts val="0"/>
              </a:spcBef>
              <a:spcAft>
                <a:spcPts val="0"/>
              </a:spcAft>
            </a:pPr>
            <a:r>
              <a:rPr lang="en-US" sz="1800" dirty="0">
                <a:effectLst/>
                <a:latin typeface="Calibri" panose="020F0502020204030204" pitchFamily="34" charset="0"/>
              </a:rPr>
              <a:t>environmental factors (10%)</a:t>
            </a:r>
          </a:p>
          <a:p>
            <a:pPr marL="0" marR="0">
              <a:spcBef>
                <a:spcPts val="0"/>
              </a:spcBef>
              <a:spcAft>
                <a:spcPts val="0"/>
              </a:spcAft>
            </a:pPr>
            <a:r>
              <a:rPr lang="en-US" sz="1800" dirty="0">
                <a:effectLst/>
                <a:latin typeface="Calibri" panose="020F0502020204030204" pitchFamily="34" charset="0"/>
              </a:rPr>
              <a:t>and behavior (30%).</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This means approximately 80% of a person's health outcomes are influenced by factors outside traditional clinical care.</a:t>
            </a:r>
          </a:p>
          <a:p>
            <a:endParaRPr lang="en-US" dirty="0"/>
          </a:p>
        </p:txBody>
      </p:sp>
      <p:sp>
        <p:nvSpPr>
          <p:cNvPr id="4" name="Slide Number Placeholder 3"/>
          <p:cNvSpPr>
            <a:spLocks noGrp="1"/>
          </p:cNvSpPr>
          <p:nvPr>
            <p:ph type="sldNum" sz="quarter" idx="5"/>
          </p:nvPr>
        </p:nvSpPr>
        <p:spPr/>
        <p:txBody>
          <a:bodyPr/>
          <a:lstStyle/>
          <a:p>
            <a:fld id="{216BB88B-5857-47ED-B24F-99FA793089D8}" type="slidenum">
              <a:rPr lang="en-US" smtClean="0"/>
              <a:t>4</a:t>
            </a:fld>
            <a:endParaRPr lang="en-US"/>
          </a:p>
        </p:txBody>
      </p:sp>
    </p:spTree>
    <p:extLst>
      <p:ext uri="{BB962C8B-B14F-4D97-AF65-F5344CB8AC3E}">
        <p14:creationId xmlns:p14="http://schemas.microsoft.com/office/powerpoint/2010/main" val="3188755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dirty="0">
                <a:effectLst/>
                <a:latin typeface="Calibri" panose="020F0502020204030204" pitchFamily="34" charset="0"/>
              </a:rPr>
              <a:t>So Where will we find care in the future?</a:t>
            </a:r>
          </a:p>
          <a:p>
            <a:pPr marL="0" marR="0">
              <a:spcBef>
                <a:spcPts val="0"/>
              </a:spcBef>
              <a:spcAft>
                <a:spcPts val="0"/>
              </a:spcAft>
            </a:pPr>
            <a:r>
              <a:rPr lang="en-US" sz="1800" dirty="0">
                <a:effectLst/>
                <a:latin typeface="Calibri" panose="020F0502020204030204" pitchFamily="34" charset="0"/>
              </a:rPr>
              <a:t>Healthcare services will become fully ingrained with our daily habits -</a:t>
            </a:r>
          </a:p>
          <a:p>
            <a:pPr marL="0" marR="0">
              <a:spcBef>
                <a:spcPts val="0"/>
              </a:spcBef>
              <a:spcAft>
                <a:spcPts val="0"/>
              </a:spcAft>
            </a:pPr>
            <a:r>
              <a:rPr lang="en-US" sz="1800" dirty="0">
                <a:effectLst/>
                <a:latin typeface="Calibri" panose="020F0502020204030204" pitchFamily="34" charset="0"/>
              </a:rPr>
              <a:t>Throughout the home with the aid of mobile devices, wearables, TVs, and even refrigerators!</a:t>
            </a:r>
          </a:p>
          <a:p>
            <a:pPr marL="0" marR="0">
              <a:spcBef>
                <a:spcPts val="0"/>
              </a:spcBef>
              <a:spcAft>
                <a:spcPts val="0"/>
              </a:spcAft>
            </a:pPr>
            <a:r>
              <a:rPr lang="en-US" sz="1800" dirty="0">
                <a:effectLst/>
                <a:latin typeface="Calibri" panose="020F0502020204030204" pitchFamily="34" charset="0"/>
              </a:rPr>
              <a:t>Smart home technologies—including voice assistants and connected home sensors—</a:t>
            </a:r>
          </a:p>
          <a:p>
            <a:pPr marL="0" marR="0">
              <a:spcBef>
                <a:spcPts val="0"/>
              </a:spcBef>
              <a:spcAft>
                <a:spcPts val="0"/>
              </a:spcAft>
            </a:pPr>
            <a:r>
              <a:rPr lang="en-US" sz="1800" dirty="0">
                <a:effectLst/>
                <a:latin typeface="Calibri" panose="020F0502020204030204" pitchFamily="34" charset="0"/>
              </a:rPr>
              <a:t>will increasingly support preventive care and chronic disease management.</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In addition to the home, there will also be expanded services that will facilitate healthier habits within the community.</a:t>
            </a:r>
          </a:p>
          <a:p>
            <a:pPr marL="0" marR="0">
              <a:spcBef>
                <a:spcPts val="0"/>
              </a:spcBef>
              <a:spcAft>
                <a:spcPts val="0"/>
              </a:spcAft>
            </a:pPr>
            <a:r>
              <a:rPr lang="en-US" sz="1800" dirty="0">
                <a:effectLst/>
                <a:latin typeface="Calibri" panose="020F0502020204030204" pitchFamily="34" charset="0"/>
              </a:rPr>
              <a:t>Bringing healthcare directly to targeted populations through workplaces, community centers, schools, gyms, and mobile clinics you name it.</a:t>
            </a:r>
          </a:p>
          <a:p>
            <a:endParaRPr lang="en-US" dirty="0"/>
          </a:p>
        </p:txBody>
      </p:sp>
      <p:sp>
        <p:nvSpPr>
          <p:cNvPr id="4" name="Slide Number Placeholder 3"/>
          <p:cNvSpPr>
            <a:spLocks noGrp="1"/>
          </p:cNvSpPr>
          <p:nvPr>
            <p:ph type="sldNum" sz="quarter" idx="5"/>
          </p:nvPr>
        </p:nvSpPr>
        <p:spPr/>
        <p:txBody>
          <a:bodyPr/>
          <a:lstStyle/>
          <a:p>
            <a:fld id="{216BB88B-5857-47ED-B24F-99FA793089D8}" type="slidenum">
              <a:rPr lang="en-US" smtClean="0"/>
              <a:t>5</a:t>
            </a:fld>
            <a:endParaRPr lang="en-US"/>
          </a:p>
        </p:txBody>
      </p:sp>
    </p:spTree>
    <p:extLst>
      <p:ext uri="{BB962C8B-B14F-4D97-AF65-F5344CB8AC3E}">
        <p14:creationId xmlns:p14="http://schemas.microsoft.com/office/powerpoint/2010/main" val="1385366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dirty="0">
                <a:effectLst/>
                <a:latin typeface="Calibri" panose="020F0502020204030204" pitchFamily="34" charset="0"/>
              </a:rPr>
              <a:t>And so the future of healthcare seems optimistic, but we still need to be cautious with merger &amp; acquisitions and partnerships</a:t>
            </a:r>
          </a:p>
          <a:p>
            <a:pPr marL="0" marR="0">
              <a:spcBef>
                <a:spcPts val="0"/>
              </a:spcBef>
              <a:spcAft>
                <a:spcPts val="0"/>
              </a:spcAft>
            </a:pPr>
            <a:r>
              <a:rPr lang="en-US" sz="1800" dirty="0">
                <a:effectLst/>
                <a:latin typeface="Calibri" panose="020F0502020204030204" pitchFamily="34" charset="0"/>
              </a:rPr>
              <a:t>While the larger systems like Humana, Amazon, and United Health have greater financial resources and  a larger margin for experimentation, </a:t>
            </a:r>
          </a:p>
          <a:p>
            <a:pPr marL="0" marR="0">
              <a:spcBef>
                <a:spcPts val="0"/>
              </a:spcBef>
              <a:spcAft>
                <a:spcPts val="0"/>
              </a:spcAft>
            </a:pPr>
            <a:r>
              <a:rPr lang="en-US" sz="1800" dirty="0">
                <a:effectLst/>
                <a:latin typeface="Calibri" panose="020F0502020204030204" pitchFamily="34" charset="0"/>
              </a:rPr>
              <a:t>they still need to adapt to the healthcare industry and remain vigilant with compliance and user's feedback.</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Smaller health systems may face increasing financial pressure unless they adopt collaborative partnerships, with digital capabilities, or alternative value-based business models.</a:t>
            </a:r>
          </a:p>
          <a:p>
            <a:pPr marL="0" marR="0">
              <a:spcBef>
                <a:spcPts val="0"/>
              </a:spcBef>
              <a:spcAft>
                <a:spcPts val="0"/>
              </a:spcAft>
            </a:pPr>
            <a:r>
              <a:rPr lang="en-US" sz="1800" dirty="0">
                <a:effectLst/>
                <a:latin typeface="Calibri" panose="020F0502020204030204" pitchFamily="34" charset="0"/>
              </a:rPr>
              <a:t>They will also need strategic partnerships with technology companies, investors, or even former competitors to remain financially sustainable.</a:t>
            </a:r>
          </a:p>
          <a:p>
            <a:pPr marL="0" marR="0">
              <a:spcBef>
                <a:spcPts val="0"/>
              </a:spcBef>
              <a:spcAft>
                <a:spcPts val="0"/>
              </a:spcAft>
            </a:pPr>
            <a:r>
              <a:rPr lang="en-US" sz="1800" dirty="0">
                <a:effectLst/>
                <a:latin typeface="Calibri" panose="020F0502020204030204" pitchFamily="34" charset="0"/>
              </a:rPr>
              <a:t>These are the new concerns we will face in healthcare.</a:t>
            </a:r>
          </a:p>
          <a:p>
            <a:endParaRPr lang="en-US" dirty="0"/>
          </a:p>
        </p:txBody>
      </p:sp>
      <p:sp>
        <p:nvSpPr>
          <p:cNvPr id="4" name="Slide Number Placeholder 3"/>
          <p:cNvSpPr>
            <a:spLocks noGrp="1"/>
          </p:cNvSpPr>
          <p:nvPr>
            <p:ph type="sldNum" sz="quarter" idx="5"/>
          </p:nvPr>
        </p:nvSpPr>
        <p:spPr/>
        <p:txBody>
          <a:bodyPr/>
          <a:lstStyle/>
          <a:p>
            <a:fld id="{216BB88B-5857-47ED-B24F-99FA793089D8}" type="slidenum">
              <a:rPr lang="en-US" smtClean="0"/>
              <a:t>6</a:t>
            </a:fld>
            <a:endParaRPr lang="en-US"/>
          </a:p>
        </p:txBody>
      </p:sp>
    </p:spTree>
    <p:extLst>
      <p:ext uri="{BB962C8B-B14F-4D97-AF65-F5344CB8AC3E}">
        <p14:creationId xmlns:p14="http://schemas.microsoft.com/office/powerpoint/2010/main" val="4526686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dirty="0">
                <a:effectLst/>
                <a:latin typeface="Calibri" panose="020F0502020204030204" pitchFamily="34" charset="0"/>
              </a:rPr>
              <a:t>This leads to the question of who will deliver care to our future patients?</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The most resilient healthcare systems will be those that keep the patient's overall health at the heart of all their decision.</a:t>
            </a:r>
          </a:p>
          <a:p>
            <a:pPr marL="0" marR="0">
              <a:spcBef>
                <a:spcPts val="0"/>
              </a:spcBef>
              <a:spcAft>
                <a:spcPts val="0"/>
              </a:spcAft>
            </a:pPr>
            <a:r>
              <a:rPr lang="en-US" sz="1800" dirty="0">
                <a:effectLst/>
                <a:latin typeface="Calibri" panose="020F0502020204030204" pitchFamily="34" charset="0"/>
              </a:rPr>
              <a:t>Leaders who can shift healthcare toward proactive, preventive, and minimally invasive care will build systems that improve outcomes through continuous innovation.</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Highly customizable digital platforms that combine clinical, behavioral, environmental, and exposome data will deliver increasingly personalized care. These systems will continuously learn from every patient interaction, empowering individuals to actively manage their own health.</a:t>
            </a:r>
          </a:p>
          <a:p>
            <a:pPr marL="0" marR="0">
              <a:spcBef>
                <a:spcPts val="0"/>
              </a:spcBef>
              <a:spcAft>
                <a:spcPts val="0"/>
              </a:spcAft>
            </a:pPr>
            <a:r>
              <a:rPr lang="en-US" sz="1800" dirty="0">
                <a:effectLst/>
                <a:latin typeface="Calibri" panose="020F0502020204030204" pitchFamily="34" charset="0"/>
              </a:rPr>
              <a:t> </a:t>
            </a:r>
          </a:p>
          <a:p>
            <a:pPr marL="0" marR="0">
              <a:spcBef>
                <a:spcPts val="0"/>
              </a:spcBef>
              <a:spcAft>
                <a:spcPts val="0"/>
              </a:spcAft>
            </a:pPr>
            <a:r>
              <a:rPr lang="en-US" sz="1800" dirty="0">
                <a:effectLst/>
                <a:latin typeface="Calibri" panose="020F0502020204030204" pitchFamily="34" charset="0"/>
              </a:rPr>
              <a:t>Organizations that successfully integrate healthcare with technology, retail, employers, and community services will become the primary coordinators of care.</a:t>
            </a:r>
          </a:p>
          <a:p>
            <a:endParaRPr lang="en-US" dirty="0"/>
          </a:p>
        </p:txBody>
      </p:sp>
      <p:sp>
        <p:nvSpPr>
          <p:cNvPr id="4" name="Slide Number Placeholder 3"/>
          <p:cNvSpPr>
            <a:spLocks noGrp="1"/>
          </p:cNvSpPr>
          <p:nvPr>
            <p:ph type="sldNum" sz="quarter" idx="5"/>
          </p:nvPr>
        </p:nvSpPr>
        <p:spPr/>
        <p:txBody>
          <a:bodyPr/>
          <a:lstStyle/>
          <a:p>
            <a:fld id="{216BB88B-5857-47ED-B24F-99FA793089D8}" type="slidenum">
              <a:rPr lang="en-US" smtClean="0"/>
              <a:t>7</a:t>
            </a:fld>
            <a:endParaRPr lang="en-US"/>
          </a:p>
        </p:txBody>
      </p:sp>
    </p:spTree>
    <p:extLst>
      <p:ext uri="{BB962C8B-B14F-4D97-AF65-F5344CB8AC3E}">
        <p14:creationId xmlns:p14="http://schemas.microsoft.com/office/powerpoint/2010/main" val="3855298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100" dirty="0">
                <a:effectLst/>
                <a:latin typeface="Calibri" panose="020F0502020204030204" pitchFamily="34" charset="0"/>
              </a:rPr>
              <a:t> </a:t>
            </a:r>
          </a:p>
          <a:p>
            <a:pPr marL="0" marR="0">
              <a:spcBef>
                <a:spcPts val="0"/>
              </a:spcBef>
              <a:spcAft>
                <a:spcPts val="0"/>
              </a:spcAft>
            </a:pPr>
            <a:r>
              <a:rPr lang="en-US" sz="1100" dirty="0">
                <a:effectLst/>
                <a:latin typeface="Calibri" panose="020F0502020204030204" pitchFamily="34" charset="0"/>
              </a:rPr>
              <a:t>Now that we've explored where care will be delivered and who will deliver it, how do we measure success?</a:t>
            </a:r>
          </a:p>
          <a:p>
            <a:pPr marL="0" marR="0">
              <a:spcBef>
                <a:spcPts val="0"/>
              </a:spcBef>
              <a:spcAft>
                <a:spcPts val="0"/>
              </a:spcAft>
            </a:pPr>
            <a:r>
              <a:rPr lang="en-US" sz="1100" dirty="0">
                <a:effectLst/>
                <a:latin typeface="Calibri" panose="020F0502020204030204" pitchFamily="34" charset="0"/>
              </a:rPr>
              <a:t>We measure  by </a:t>
            </a:r>
          </a:p>
          <a:p>
            <a:pPr rtl="0" fontAlgn="ctr">
              <a:spcBef>
                <a:spcPts val="0"/>
              </a:spcBef>
              <a:spcAft>
                <a:spcPts val="0"/>
              </a:spcAft>
              <a:buFont typeface="Arial" panose="020B0604020202020204" pitchFamily="34" charset="0"/>
              <a:buChar char="•"/>
            </a:pPr>
            <a:r>
              <a:rPr lang="en-US" sz="1100" dirty="0">
                <a:effectLst/>
                <a:latin typeface="Calibri" panose="020F0502020204030204" pitchFamily="34" charset="0"/>
              </a:rPr>
              <a:t>patient outcomes </a:t>
            </a:r>
          </a:p>
          <a:p>
            <a:pPr marL="742950" lvl="1" indent="-285750" rtl="0" fontAlgn="ctr">
              <a:spcBef>
                <a:spcPts val="0"/>
              </a:spcBef>
              <a:spcAft>
                <a:spcPts val="0"/>
              </a:spcAft>
              <a:buFont typeface="Courier New" panose="02070309020205020404" pitchFamily="49" charset="0"/>
              <a:buChar char="o"/>
            </a:pPr>
            <a:r>
              <a:rPr lang="en-US" sz="1100" dirty="0">
                <a:effectLst/>
                <a:latin typeface="Calibri" panose="020F0502020204030204" pitchFamily="34" charset="0"/>
              </a:rPr>
              <a:t>Reduced hospital readmissions </a:t>
            </a:r>
          </a:p>
          <a:p>
            <a:pPr marL="742950" lvl="1" indent="-285750" rtl="0" fontAlgn="ctr">
              <a:spcBef>
                <a:spcPts val="0"/>
              </a:spcBef>
              <a:spcAft>
                <a:spcPts val="0"/>
              </a:spcAft>
              <a:buFont typeface="Courier New" panose="02070309020205020404" pitchFamily="49" charset="0"/>
              <a:buChar char="o"/>
            </a:pPr>
            <a:r>
              <a:rPr lang="en-US" sz="1100" dirty="0">
                <a:effectLst/>
                <a:latin typeface="Calibri" panose="020F0502020204030204" pitchFamily="34" charset="0"/>
              </a:rPr>
              <a:t>Lowered emergency department utilization </a:t>
            </a:r>
          </a:p>
          <a:p>
            <a:pPr rtl="0" fontAlgn="ctr">
              <a:spcBef>
                <a:spcPts val="0"/>
              </a:spcBef>
              <a:spcAft>
                <a:spcPts val="0"/>
              </a:spcAft>
              <a:buFont typeface="Arial" panose="020B0604020202020204" pitchFamily="34" charset="0"/>
              <a:buChar char="•"/>
            </a:pPr>
            <a:r>
              <a:rPr lang="en-US" sz="1100" dirty="0">
                <a:effectLst/>
                <a:latin typeface="Calibri" panose="020F0502020204030204" pitchFamily="34" charset="0"/>
              </a:rPr>
              <a:t>Patient satisfaction </a:t>
            </a:r>
          </a:p>
          <a:p>
            <a:pPr marL="742950" lvl="1" indent="-285750" rtl="0" fontAlgn="ctr">
              <a:spcBef>
                <a:spcPts val="0"/>
              </a:spcBef>
              <a:spcAft>
                <a:spcPts val="0"/>
              </a:spcAft>
              <a:buFont typeface="Courier New" panose="02070309020205020404" pitchFamily="49" charset="0"/>
              <a:buChar char="o"/>
            </a:pPr>
            <a:r>
              <a:rPr lang="en-US" sz="1100" dirty="0">
                <a:effectLst/>
                <a:latin typeface="Calibri" panose="020F0502020204030204" pitchFamily="34" charset="0"/>
              </a:rPr>
              <a:t>impact on quality of life </a:t>
            </a:r>
          </a:p>
          <a:p>
            <a:pPr rtl="0" fontAlgn="ctr">
              <a:spcBef>
                <a:spcPts val="0"/>
              </a:spcBef>
              <a:spcAft>
                <a:spcPts val="0"/>
              </a:spcAft>
              <a:buFont typeface="Arial" panose="020B0604020202020204" pitchFamily="34" charset="0"/>
              <a:buChar char="•"/>
            </a:pPr>
            <a:r>
              <a:rPr lang="en-US" sz="1100" dirty="0">
                <a:effectLst/>
                <a:latin typeface="Calibri" panose="020F0502020204030204" pitchFamily="34" charset="0"/>
              </a:rPr>
              <a:t>Digital engagement </a:t>
            </a:r>
          </a:p>
          <a:p>
            <a:pPr marL="742950" lvl="1" indent="-285750" rtl="0" fontAlgn="ctr">
              <a:spcBef>
                <a:spcPts val="0"/>
              </a:spcBef>
              <a:spcAft>
                <a:spcPts val="0"/>
              </a:spcAft>
              <a:buFont typeface="Courier New" panose="02070309020205020404" pitchFamily="49" charset="0"/>
              <a:buChar char="o"/>
            </a:pPr>
            <a:r>
              <a:rPr lang="en-US" sz="1100" dirty="0">
                <a:effectLst/>
                <a:latin typeface="Calibri" panose="020F0502020204030204" pitchFamily="34" charset="0"/>
              </a:rPr>
              <a:t>Sustainable platform growth</a:t>
            </a:r>
          </a:p>
          <a:p>
            <a:pPr rtl="0" fontAlgn="ctr">
              <a:spcBef>
                <a:spcPts val="0"/>
              </a:spcBef>
              <a:spcAft>
                <a:spcPts val="0"/>
              </a:spcAft>
              <a:buFont typeface="Arial" panose="020B0604020202020204" pitchFamily="34" charset="0"/>
              <a:buChar char="•"/>
            </a:pPr>
            <a:r>
              <a:rPr lang="en-US" sz="1100" dirty="0">
                <a:effectLst/>
                <a:latin typeface="Calibri" panose="020F0502020204030204" pitchFamily="34" charset="0"/>
              </a:rPr>
              <a:t>Lower total cost of care </a:t>
            </a:r>
          </a:p>
          <a:p>
            <a:pPr marL="342900" marR="0">
              <a:spcBef>
                <a:spcPts val="0"/>
              </a:spcBef>
              <a:spcAft>
                <a:spcPts val="0"/>
              </a:spcAft>
            </a:pPr>
            <a:r>
              <a:rPr lang="en-US" sz="1100" dirty="0">
                <a:effectLst/>
                <a:latin typeface="Calibri" panose="020F0502020204030204" pitchFamily="34" charset="0"/>
              </a:rPr>
              <a:t> </a:t>
            </a:r>
          </a:p>
          <a:p>
            <a:pPr marL="0" marR="0">
              <a:spcBef>
                <a:spcPts val="0"/>
              </a:spcBef>
              <a:spcAft>
                <a:spcPts val="0"/>
              </a:spcAft>
            </a:pPr>
            <a:r>
              <a:rPr lang="en-US" sz="1100" dirty="0">
                <a:effectLst/>
                <a:latin typeface="Calibri" panose="020F0502020204030204" pitchFamily="34" charset="0"/>
              </a:rPr>
              <a:t> </a:t>
            </a:r>
          </a:p>
          <a:p>
            <a:pPr marL="0" marR="0">
              <a:spcBef>
                <a:spcPts val="0"/>
              </a:spcBef>
              <a:spcAft>
                <a:spcPts val="0"/>
              </a:spcAft>
            </a:pPr>
            <a:r>
              <a:rPr lang="en-US" sz="1100" dirty="0">
                <a:effectLst/>
                <a:latin typeface="Calibri" panose="020F0502020204030204" pitchFamily="34" charset="0"/>
              </a:rPr>
              <a:t> </a:t>
            </a:r>
          </a:p>
          <a:p>
            <a:pPr marL="0" marR="0">
              <a:spcBef>
                <a:spcPts val="0"/>
              </a:spcBef>
              <a:spcAft>
                <a:spcPts val="0"/>
              </a:spcAft>
            </a:pPr>
            <a:r>
              <a:rPr lang="en-US" sz="1100" dirty="0">
                <a:effectLst/>
                <a:latin typeface="Calibri" panose="020F0502020204030204" pitchFamily="34" charset="0"/>
              </a:rPr>
              <a:t>How will we know we have created a successful healthcare platform that attracts not only patients but also providers and community partners?</a:t>
            </a:r>
          </a:p>
          <a:p>
            <a:pPr marL="0" marR="0">
              <a:spcBef>
                <a:spcPts val="0"/>
              </a:spcBef>
              <a:spcAft>
                <a:spcPts val="0"/>
              </a:spcAft>
            </a:pPr>
            <a:r>
              <a:rPr lang="en-US" sz="1100" dirty="0">
                <a:effectLst/>
                <a:latin typeface="Calibri" panose="020F0502020204030204" pitchFamily="34" charset="0"/>
              </a:rPr>
              <a:t> </a:t>
            </a:r>
          </a:p>
          <a:p>
            <a:pPr marL="0" marR="0">
              <a:spcBef>
                <a:spcPts val="0"/>
              </a:spcBef>
              <a:spcAft>
                <a:spcPts val="0"/>
              </a:spcAft>
            </a:pPr>
            <a:r>
              <a:rPr lang="en-US" sz="1100" dirty="0">
                <a:effectLst/>
                <a:latin typeface="Calibri" panose="020F0502020204030204" pitchFamily="34" charset="0"/>
              </a:rPr>
              <a:t>Success will be measured primarily through improved patient outcomes, reduced hospital readmissions, fewer emergency department visits, patient satisfaction ratings, the way it impacts our quality of life and healthier populations. </a:t>
            </a:r>
          </a:p>
          <a:p>
            <a:pPr marL="0" marR="0">
              <a:spcBef>
                <a:spcPts val="0"/>
              </a:spcBef>
              <a:spcAft>
                <a:spcPts val="0"/>
              </a:spcAft>
            </a:pPr>
            <a:r>
              <a:rPr lang="en-US" sz="1100" dirty="0">
                <a:effectLst/>
                <a:latin typeface="Calibri" panose="020F0502020204030204" pitchFamily="34" charset="0"/>
              </a:rPr>
              <a:t> </a:t>
            </a:r>
          </a:p>
          <a:p>
            <a:pPr marL="0" marR="0">
              <a:spcBef>
                <a:spcPts val="0"/>
              </a:spcBef>
              <a:spcAft>
                <a:spcPts val="0"/>
              </a:spcAft>
            </a:pPr>
            <a:r>
              <a:rPr lang="en-US" sz="1100" dirty="0">
                <a:effectLst/>
                <a:latin typeface="Calibri" panose="020F0502020204030204" pitchFamily="34" charset="0"/>
              </a:rPr>
              <a:t>A Platform network effects will be indicators of organizational success.</a:t>
            </a:r>
          </a:p>
          <a:p>
            <a:pPr marL="0" marR="0">
              <a:spcBef>
                <a:spcPts val="0"/>
              </a:spcBef>
              <a:spcAft>
                <a:spcPts val="0"/>
              </a:spcAft>
            </a:pPr>
            <a:r>
              <a:rPr lang="en-US" sz="1100" dirty="0">
                <a:effectLst/>
                <a:latin typeface="Calibri" panose="020F0502020204030204" pitchFamily="34" charset="0"/>
              </a:rPr>
              <a:t>And finally lower total cost of care</a:t>
            </a:r>
          </a:p>
          <a:p>
            <a:endParaRPr lang="en-US" dirty="0"/>
          </a:p>
        </p:txBody>
      </p:sp>
      <p:sp>
        <p:nvSpPr>
          <p:cNvPr id="4" name="Slide Number Placeholder 3"/>
          <p:cNvSpPr>
            <a:spLocks noGrp="1"/>
          </p:cNvSpPr>
          <p:nvPr>
            <p:ph type="sldNum" sz="quarter" idx="5"/>
          </p:nvPr>
        </p:nvSpPr>
        <p:spPr/>
        <p:txBody>
          <a:bodyPr/>
          <a:lstStyle/>
          <a:p>
            <a:fld id="{216BB88B-5857-47ED-B24F-99FA793089D8}" type="slidenum">
              <a:rPr lang="en-US" smtClean="0"/>
              <a:t>8</a:t>
            </a:fld>
            <a:endParaRPr lang="en-US"/>
          </a:p>
        </p:txBody>
      </p:sp>
    </p:spTree>
    <p:extLst>
      <p:ext uri="{BB962C8B-B14F-4D97-AF65-F5344CB8AC3E}">
        <p14:creationId xmlns:p14="http://schemas.microsoft.com/office/powerpoint/2010/main" val="2293912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dirty="0">
                <a:effectLst/>
                <a:latin typeface="Calibri" panose="020F0502020204030204" pitchFamily="34" charset="0"/>
              </a:rPr>
              <a:t>Thank you for watching my presentation. I hope this discussion provided insight into how value-based care, digital health, and patient-centered innovation may reshape healthcare over the next 10 to 15 years. </a:t>
            </a:r>
          </a:p>
          <a:p>
            <a:pPr marL="0" marR="0">
              <a:spcBef>
                <a:spcPts val="0"/>
              </a:spcBef>
              <a:spcAft>
                <a:spcPts val="0"/>
              </a:spcAft>
            </a:pPr>
            <a:r>
              <a:rPr lang="en-US" sz="1800">
                <a:effectLst/>
                <a:latin typeface="Calibri" panose="020F0502020204030204" pitchFamily="34" charset="0"/>
              </a:rPr>
              <a:t>This slide contains the references used in this presentation.</a:t>
            </a:r>
          </a:p>
          <a:p>
            <a:endParaRPr lang="en-US"/>
          </a:p>
        </p:txBody>
      </p:sp>
      <p:sp>
        <p:nvSpPr>
          <p:cNvPr id="4" name="Slide Number Placeholder 3"/>
          <p:cNvSpPr>
            <a:spLocks noGrp="1"/>
          </p:cNvSpPr>
          <p:nvPr>
            <p:ph type="sldNum" sz="quarter" idx="5"/>
          </p:nvPr>
        </p:nvSpPr>
        <p:spPr/>
        <p:txBody>
          <a:bodyPr/>
          <a:lstStyle/>
          <a:p>
            <a:fld id="{216BB88B-5857-47ED-B24F-99FA793089D8}" type="slidenum">
              <a:rPr lang="en-US" smtClean="0"/>
              <a:t>9</a:t>
            </a:fld>
            <a:endParaRPr lang="en-US"/>
          </a:p>
        </p:txBody>
      </p:sp>
    </p:spTree>
    <p:extLst>
      <p:ext uri="{BB962C8B-B14F-4D97-AF65-F5344CB8AC3E}">
        <p14:creationId xmlns:p14="http://schemas.microsoft.com/office/powerpoint/2010/main" val="3820296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5F38-6AC8-66BB-6223-4192F278C1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5CB4A2-AE69-8E7A-806A-3B21C56647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949914-6E8F-B94A-258E-28B32253065D}"/>
              </a:ext>
            </a:extLst>
          </p:cNvPr>
          <p:cNvSpPr>
            <a:spLocks noGrp="1"/>
          </p:cNvSpPr>
          <p:nvPr>
            <p:ph type="dt" sz="half" idx="10"/>
          </p:nvPr>
        </p:nvSpPr>
        <p:spPr/>
        <p:txBody>
          <a:bodyPr/>
          <a:lstStyle/>
          <a:p>
            <a:fld id="{6AE3C3F5-43C6-4734-867C-2688255B210B}" type="datetimeFigureOut">
              <a:rPr lang="en-US" smtClean="0"/>
              <a:t>6/27/2026</a:t>
            </a:fld>
            <a:endParaRPr lang="en-US"/>
          </a:p>
        </p:txBody>
      </p:sp>
      <p:sp>
        <p:nvSpPr>
          <p:cNvPr id="5" name="Footer Placeholder 4">
            <a:extLst>
              <a:ext uri="{FF2B5EF4-FFF2-40B4-BE49-F238E27FC236}">
                <a16:creationId xmlns:a16="http://schemas.microsoft.com/office/drawing/2014/main" id="{BEF2E6F9-ECA2-FE5B-9AD9-E0FB92FFE4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CFC63B-BA21-D1F1-B7C8-C1D9920F013B}"/>
              </a:ext>
            </a:extLst>
          </p:cNvPr>
          <p:cNvSpPr>
            <a:spLocks noGrp="1"/>
          </p:cNvSpPr>
          <p:nvPr>
            <p:ph type="sldNum" sz="quarter" idx="12"/>
          </p:nvPr>
        </p:nvSpPr>
        <p:spPr/>
        <p:txBody>
          <a:bodyPr/>
          <a:lstStyle/>
          <a:p>
            <a:fld id="{62D3F285-3F08-45CA-8F56-3AFBFB0FFFFF}" type="slidenum">
              <a:rPr lang="en-US" smtClean="0"/>
              <a:t>‹#›</a:t>
            </a:fld>
            <a:endParaRPr lang="en-US"/>
          </a:p>
        </p:txBody>
      </p:sp>
    </p:spTree>
    <p:extLst>
      <p:ext uri="{BB962C8B-B14F-4D97-AF65-F5344CB8AC3E}">
        <p14:creationId xmlns:p14="http://schemas.microsoft.com/office/powerpoint/2010/main" val="2391686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02856-F96A-C415-9DA7-2226A94DCD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D83DD4-7056-874C-2A82-7CB1D25277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8C0556-9C26-A40D-6A40-A493CC6C37AD}"/>
              </a:ext>
            </a:extLst>
          </p:cNvPr>
          <p:cNvSpPr>
            <a:spLocks noGrp="1"/>
          </p:cNvSpPr>
          <p:nvPr>
            <p:ph type="dt" sz="half" idx="10"/>
          </p:nvPr>
        </p:nvSpPr>
        <p:spPr/>
        <p:txBody>
          <a:bodyPr/>
          <a:lstStyle/>
          <a:p>
            <a:fld id="{6AE3C3F5-43C6-4734-867C-2688255B210B}" type="datetimeFigureOut">
              <a:rPr lang="en-US" smtClean="0"/>
              <a:t>6/27/2026</a:t>
            </a:fld>
            <a:endParaRPr lang="en-US"/>
          </a:p>
        </p:txBody>
      </p:sp>
      <p:sp>
        <p:nvSpPr>
          <p:cNvPr id="5" name="Footer Placeholder 4">
            <a:extLst>
              <a:ext uri="{FF2B5EF4-FFF2-40B4-BE49-F238E27FC236}">
                <a16:creationId xmlns:a16="http://schemas.microsoft.com/office/drawing/2014/main" id="{E158CAA1-B04D-29F0-5794-9325EB574D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5DAA97-A359-0BA6-C704-1C32D9CBBAB0}"/>
              </a:ext>
            </a:extLst>
          </p:cNvPr>
          <p:cNvSpPr>
            <a:spLocks noGrp="1"/>
          </p:cNvSpPr>
          <p:nvPr>
            <p:ph type="sldNum" sz="quarter" idx="12"/>
          </p:nvPr>
        </p:nvSpPr>
        <p:spPr/>
        <p:txBody>
          <a:bodyPr/>
          <a:lstStyle/>
          <a:p>
            <a:fld id="{62D3F285-3F08-45CA-8F56-3AFBFB0FFFFF}" type="slidenum">
              <a:rPr lang="en-US" smtClean="0"/>
              <a:t>‹#›</a:t>
            </a:fld>
            <a:endParaRPr lang="en-US"/>
          </a:p>
        </p:txBody>
      </p:sp>
    </p:spTree>
    <p:extLst>
      <p:ext uri="{BB962C8B-B14F-4D97-AF65-F5344CB8AC3E}">
        <p14:creationId xmlns:p14="http://schemas.microsoft.com/office/powerpoint/2010/main" val="222158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D7372-C98E-3BD7-7040-6A2BB0AC1B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01CE3CB-211F-5942-484C-00DDF83A9D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F9D219-75B8-35BF-71F2-03C26CF8AA71}"/>
              </a:ext>
            </a:extLst>
          </p:cNvPr>
          <p:cNvSpPr>
            <a:spLocks noGrp="1"/>
          </p:cNvSpPr>
          <p:nvPr>
            <p:ph type="dt" sz="half" idx="10"/>
          </p:nvPr>
        </p:nvSpPr>
        <p:spPr/>
        <p:txBody>
          <a:bodyPr/>
          <a:lstStyle/>
          <a:p>
            <a:fld id="{6AE3C3F5-43C6-4734-867C-2688255B210B}" type="datetimeFigureOut">
              <a:rPr lang="en-US" smtClean="0"/>
              <a:t>6/27/2026</a:t>
            </a:fld>
            <a:endParaRPr lang="en-US"/>
          </a:p>
        </p:txBody>
      </p:sp>
      <p:sp>
        <p:nvSpPr>
          <p:cNvPr id="5" name="Footer Placeholder 4">
            <a:extLst>
              <a:ext uri="{FF2B5EF4-FFF2-40B4-BE49-F238E27FC236}">
                <a16:creationId xmlns:a16="http://schemas.microsoft.com/office/drawing/2014/main" id="{A212A063-ABA3-B5AB-5A99-6939228A8A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63947E-CB81-3282-2459-CBB6BB6CE031}"/>
              </a:ext>
            </a:extLst>
          </p:cNvPr>
          <p:cNvSpPr>
            <a:spLocks noGrp="1"/>
          </p:cNvSpPr>
          <p:nvPr>
            <p:ph type="sldNum" sz="quarter" idx="12"/>
          </p:nvPr>
        </p:nvSpPr>
        <p:spPr/>
        <p:txBody>
          <a:bodyPr/>
          <a:lstStyle/>
          <a:p>
            <a:fld id="{62D3F285-3F08-45CA-8F56-3AFBFB0FFFFF}" type="slidenum">
              <a:rPr lang="en-US" smtClean="0"/>
              <a:t>‹#›</a:t>
            </a:fld>
            <a:endParaRPr lang="en-US"/>
          </a:p>
        </p:txBody>
      </p:sp>
    </p:spTree>
    <p:extLst>
      <p:ext uri="{BB962C8B-B14F-4D97-AF65-F5344CB8AC3E}">
        <p14:creationId xmlns:p14="http://schemas.microsoft.com/office/powerpoint/2010/main" val="664519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602FE-D9B5-C210-947E-00FB424034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D2FE27-D644-2998-A5C1-1825C10476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04784C9-53F0-D680-23D8-6A52C51583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89B873-C5C3-C3FF-5FFC-ED2016C56903}"/>
              </a:ext>
            </a:extLst>
          </p:cNvPr>
          <p:cNvSpPr>
            <a:spLocks noGrp="1"/>
          </p:cNvSpPr>
          <p:nvPr>
            <p:ph type="dt" sz="half" idx="10"/>
          </p:nvPr>
        </p:nvSpPr>
        <p:spPr/>
        <p:txBody>
          <a:bodyPr/>
          <a:lstStyle/>
          <a:p>
            <a:fld id="{6AE3C3F5-43C6-4734-867C-2688255B210B}" type="datetimeFigureOut">
              <a:rPr lang="en-US" smtClean="0"/>
              <a:t>6/27/2026</a:t>
            </a:fld>
            <a:endParaRPr lang="en-US"/>
          </a:p>
        </p:txBody>
      </p:sp>
      <p:sp>
        <p:nvSpPr>
          <p:cNvPr id="6" name="Footer Placeholder 5">
            <a:extLst>
              <a:ext uri="{FF2B5EF4-FFF2-40B4-BE49-F238E27FC236}">
                <a16:creationId xmlns:a16="http://schemas.microsoft.com/office/drawing/2014/main" id="{BB0E90C6-D7CB-8C08-4862-231DEF86B5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685FBC-5752-AE0E-F91D-E24F83F6BEB2}"/>
              </a:ext>
            </a:extLst>
          </p:cNvPr>
          <p:cNvSpPr>
            <a:spLocks noGrp="1"/>
          </p:cNvSpPr>
          <p:nvPr>
            <p:ph type="sldNum" sz="quarter" idx="12"/>
          </p:nvPr>
        </p:nvSpPr>
        <p:spPr/>
        <p:txBody>
          <a:bodyPr/>
          <a:lstStyle/>
          <a:p>
            <a:fld id="{62D3F285-3F08-45CA-8F56-3AFBFB0FFFFF}" type="slidenum">
              <a:rPr lang="en-US" smtClean="0"/>
              <a:t>‹#›</a:t>
            </a:fld>
            <a:endParaRPr lang="en-US"/>
          </a:p>
        </p:txBody>
      </p:sp>
    </p:spTree>
    <p:extLst>
      <p:ext uri="{BB962C8B-B14F-4D97-AF65-F5344CB8AC3E}">
        <p14:creationId xmlns:p14="http://schemas.microsoft.com/office/powerpoint/2010/main" val="100696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9FB1E-AEA6-2BE1-8081-7EDDDAA57E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5FCD070-EDEA-CC4F-FCB3-E71ED7C5F0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146549-B289-34DD-1FA1-7180A31856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24B63CF-7264-D3AE-0164-7C9CBF35F1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ED1770-CACC-68E4-3A54-11881C5006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3A3E01-0067-5411-99A2-D1FB1843AD53}"/>
              </a:ext>
            </a:extLst>
          </p:cNvPr>
          <p:cNvSpPr>
            <a:spLocks noGrp="1"/>
          </p:cNvSpPr>
          <p:nvPr>
            <p:ph type="dt" sz="half" idx="10"/>
          </p:nvPr>
        </p:nvSpPr>
        <p:spPr/>
        <p:txBody>
          <a:bodyPr/>
          <a:lstStyle/>
          <a:p>
            <a:fld id="{6AE3C3F5-43C6-4734-867C-2688255B210B}" type="datetimeFigureOut">
              <a:rPr lang="en-US" smtClean="0"/>
              <a:t>6/27/2026</a:t>
            </a:fld>
            <a:endParaRPr lang="en-US"/>
          </a:p>
        </p:txBody>
      </p:sp>
      <p:sp>
        <p:nvSpPr>
          <p:cNvPr id="8" name="Footer Placeholder 7">
            <a:extLst>
              <a:ext uri="{FF2B5EF4-FFF2-40B4-BE49-F238E27FC236}">
                <a16:creationId xmlns:a16="http://schemas.microsoft.com/office/drawing/2014/main" id="{DD1E4734-C1A3-33C3-2BE4-2F8C9A5CA0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81C19B6-BA84-FCD0-7579-95BDBDC403E5}"/>
              </a:ext>
            </a:extLst>
          </p:cNvPr>
          <p:cNvSpPr>
            <a:spLocks noGrp="1"/>
          </p:cNvSpPr>
          <p:nvPr>
            <p:ph type="sldNum" sz="quarter" idx="12"/>
          </p:nvPr>
        </p:nvSpPr>
        <p:spPr/>
        <p:txBody>
          <a:bodyPr/>
          <a:lstStyle/>
          <a:p>
            <a:fld id="{62D3F285-3F08-45CA-8F56-3AFBFB0FFFFF}" type="slidenum">
              <a:rPr lang="en-US" smtClean="0"/>
              <a:t>‹#›</a:t>
            </a:fld>
            <a:endParaRPr lang="en-US"/>
          </a:p>
        </p:txBody>
      </p:sp>
    </p:spTree>
    <p:extLst>
      <p:ext uri="{BB962C8B-B14F-4D97-AF65-F5344CB8AC3E}">
        <p14:creationId xmlns:p14="http://schemas.microsoft.com/office/powerpoint/2010/main" val="1026935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9F612-5C8E-C8E2-28A4-0A955A23E7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ECBC288-D105-096F-A797-1C56247426AB}"/>
              </a:ext>
            </a:extLst>
          </p:cNvPr>
          <p:cNvSpPr>
            <a:spLocks noGrp="1"/>
          </p:cNvSpPr>
          <p:nvPr>
            <p:ph type="dt" sz="half" idx="10"/>
          </p:nvPr>
        </p:nvSpPr>
        <p:spPr/>
        <p:txBody>
          <a:bodyPr/>
          <a:lstStyle/>
          <a:p>
            <a:fld id="{6AE3C3F5-43C6-4734-867C-2688255B210B}" type="datetimeFigureOut">
              <a:rPr lang="en-US" smtClean="0"/>
              <a:t>6/27/2026</a:t>
            </a:fld>
            <a:endParaRPr lang="en-US"/>
          </a:p>
        </p:txBody>
      </p:sp>
      <p:sp>
        <p:nvSpPr>
          <p:cNvPr id="4" name="Footer Placeholder 3">
            <a:extLst>
              <a:ext uri="{FF2B5EF4-FFF2-40B4-BE49-F238E27FC236}">
                <a16:creationId xmlns:a16="http://schemas.microsoft.com/office/drawing/2014/main" id="{0E481F52-916C-957D-E643-3D0968D187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A482AC-2440-B081-BFCB-ACBE1BB2E802}"/>
              </a:ext>
            </a:extLst>
          </p:cNvPr>
          <p:cNvSpPr>
            <a:spLocks noGrp="1"/>
          </p:cNvSpPr>
          <p:nvPr>
            <p:ph type="sldNum" sz="quarter" idx="12"/>
          </p:nvPr>
        </p:nvSpPr>
        <p:spPr/>
        <p:txBody>
          <a:bodyPr/>
          <a:lstStyle/>
          <a:p>
            <a:fld id="{62D3F285-3F08-45CA-8F56-3AFBFB0FFFFF}" type="slidenum">
              <a:rPr lang="en-US" smtClean="0"/>
              <a:t>‹#›</a:t>
            </a:fld>
            <a:endParaRPr lang="en-US"/>
          </a:p>
        </p:txBody>
      </p:sp>
    </p:spTree>
    <p:extLst>
      <p:ext uri="{BB962C8B-B14F-4D97-AF65-F5344CB8AC3E}">
        <p14:creationId xmlns:p14="http://schemas.microsoft.com/office/powerpoint/2010/main" val="409964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997205-C12D-9A8D-BC7A-AB2EBD1C5225}"/>
              </a:ext>
            </a:extLst>
          </p:cNvPr>
          <p:cNvSpPr>
            <a:spLocks noGrp="1"/>
          </p:cNvSpPr>
          <p:nvPr>
            <p:ph type="dt" sz="half" idx="10"/>
          </p:nvPr>
        </p:nvSpPr>
        <p:spPr/>
        <p:txBody>
          <a:bodyPr/>
          <a:lstStyle/>
          <a:p>
            <a:fld id="{6AE3C3F5-43C6-4734-867C-2688255B210B}" type="datetimeFigureOut">
              <a:rPr lang="en-US" smtClean="0"/>
              <a:t>6/27/2026</a:t>
            </a:fld>
            <a:endParaRPr lang="en-US"/>
          </a:p>
        </p:txBody>
      </p:sp>
      <p:sp>
        <p:nvSpPr>
          <p:cNvPr id="3" name="Footer Placeholder 2">
            <a:extLst>
              <a:ext uri="{FF2B5EF4-FFF2-40B4-BE49-F238E27FC236}">
                <a16:creationId xmlns:a16="http://schemas.microsoft.com/office/drawing/2014/main" id="{E29522E3-AA59-644A-265E-81D3AF96A4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3891CC7-0AFC-232B-FAB1-9F4AA02C35B6}"/>
              </a:ext>
            </a:extLst>
          </p:cNvPr>
          <p:cNvSpPr>
            <a:spLocks noGrp="1"/>
          </p:cNvSpPr>
          <p:nvPr>
            <p:ph type="sldNum" sz="quarter" idx="12"/>
          </p:nvPr>
        </p:nvSpPr>
        <p:spPr/>
        <p:txBody>
          <a:bodyPr/>
          <a:lstStyle/>
          <a:p>
            <a:fld id="{62D3F285-3F08-45CA-8F56-3AFBFB0FFFFF}" type="slidenum">
              <a:rPr lang="en-US" smtClean="0"/>
              <a:t>‹#›</a:t>
            </a:fld>
            <a:endParaRPr lang="en-US"/>
          </a:p>
        </p:txBody>
      </p:sp>
    </p:spTree>
    <p:extLst>
      <p:ext uri="{BB962C8B-B14F-4D97-AF65-F5344CB8AC3E}">
        <p14:creationId xmlns:p14="http://schemas.microsoft.com/office/powerpoint/2010/main" val="1823151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FF643-08C5-7815-5F10-E3E20522F7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ADFFD4-480E-6E95-B760-9C7A8BBBE8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AD246D2-08C5-26B7-7ADC-8FF76B9C88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0B74F2-4BCC-59D7-8374-833B0D5A0519}"/>
              </a:ext>
            </a:extLst>
          </p:cNvPr>
          <p:cNvSpPr>
            <a:spLocks noGrp="1"/>
          </p:cNvSpPr>
          <p:nvPr>
            <p:ph type="dt" sz="half" idx="10"/>
          </p:nvPr>
        </p:nvSpPr>
        <p:spPr/>
        <p:txBody>
          <a:bodyPr/>
          <a:lstStyle/>
          <a:p>
            <a:fld id="{6AE3C3F5-43C6-4734-867C-2688255B210B}" type="datetimeFigureOut">
              <a:rPr lang="en-US" smtClean="0"/>
              <a:t>6/27/2026</a:t>
            </a:fld>
            <a:endParaRPr lang="en-US"/>
          </a:p>
        </p:txBody>
      </p:sp>
      <p:sp>
        <p:nvSpPr>
          <p:cNvPr id="6" name="Footer Placeholder 5">
            <a:extLst>
              <a:ext uri="{FF2B5EF4-FFF2-40B4-BE49-F238E27FC236}">
                <a16:creationId xmlns:a16="http://schemas.microsoft.com/office/drawing/2014/main" id="{028737D6-DE76-6D47-8555-6CC9126FA5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762C25-58A6-6AF5-6277-74D79D84D017}"/>
              </a:ext>
            </a:extLst>
          </p:cNvPr>
          <p:cNvSpPr>
            <a:spLocks noGrp="1"/>
          </p:cNvSpPr>
          <p:nvPr>
            <p:ph type="sldNum" sz="quarter" idx="12"/>
          </p:nvPr>
        </p:nvSpPr>
        <p:spPr/>
        <p:txBody>
          <a:bodyPr/>
          <a:lstStyle/>
          <a:p>
            <a:fld id="{62D3F285-3F08-45CA-8F56-3AFBFB0FFFFF}" type="slidenum">
              <a:rPr lang="en-US" smtClean="0"/>
              <a:t>‹#›</a:t>
            </a:fld>
            <a:endParaRPr lang="en-US"/>
          </a:p>
        </p:txBody>
      </p:sp>
    </p:spTree>
    <p:extLst>
      <p:ext uri="{BB962C8B-B14F-4D97-AF65-F5344CB8AC3E}">
        <p14:creationId xmlns:p14="http://schemas.microsoft.com/office/powerpoint/2010/main" val="3417907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03CA4-3CC3-3471-3926-4572E2F02C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668EAB0-2380-1925-070D-39CE979A01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1D7FFE4-E73F-984F-333B-1A0819379E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9D31A4-26E8-0689-B580-4EDBBA4466E3}"/>
              </a:ext>
            </a:extLst>
          </p:cNvPr>
          <p:cNvSpPr>
            <a:spLocks noGrp="1"/>
          </p:cNvSpPr>
          <p:nvPr>
            <p:ph type="dt" sz="half" idx="10"/>
          </p:nvPr>
        </p:nvSpPr>
        <p:spPr/>
        <p:txBody>
          <a:bodyPr/>
          <a:lstStyle/>
          <a:p>
            <a:fld id="{6AE3C3F5-43C6-4734-867C-2688255B210B}" type="datetimeFigureOut">
              <a:rPr lang="en-US" smtClean="0"/>
              <a:t>6/27/2026</a:t>
            </a:fld>
            <a:endParaRPr lang="en-US"/>
          </a:p>
        </p:txBody>
      </p:sp>
      <p:sp>
        <p:nvSpPr>
          <p:cNvPr id="6" name="Footer Placeholder 5">
            <a:extLst>
              <a:ext uri="{FF2B5EF4-FFF2-40B4-BE49-F238E27FC236}">
                <a16:creationId xmlns:a16="http://schemas.microsoft.com/office/drawing/2014/main" id="{8AF14446-6970-E8C1-F6DE-ABF4B0F14A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5F5419-14CC-2A8C-5B28-C0AA6B1A9686}"/>
              </a:ext>
            </a:extLst>
          </p:cNvPr>
          <p:cNvSpPr>
            <a:spLocks noGrp="1"/>
          </p:cNvSpPr>
          <p:nvPr>
            <p:ph type="sldNum" sz="quarter" idx="12"/>
          </p:nvPr>
        </p:nvSpPr>
        <p:spPr/>
        <p:txBody>
          <a:bodyPr/>
          <a:lstStyle/>
          <a:p>
            <a:fld id="{62D3F285-3F08-45CA-8F56-3AFBFB0FFFFF}" type="slidenum">
              <a:rPr lang="en-US" smtClean="0"/>
              <a:t>‹#›</a:t>
            </a:fld>
            <a:endParaRPr lang="en-US"/>
          </a:p>
        </p:txBody>
      </p:sp>
    </p:spTree>
    <p:extLst>
      <p:ext uri="{BB962C8B-B14F-4D97-AF65-F5344CB8AC3E}">
        <p14:creationId xmlns:p14="http://schemas.microsoft.com/office/powerpoint/2010/main" val="2849193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18392-A63D-F25A-223A-F1DEC372D1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0B5FCC-060F-720E-98E4-ACDBCDA8B5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FE8CF2-A9D9-DACF-9880-A53FEF6635D7}"/>
              </a:ext>
            </a:extLst>
          </p:cNvPr>
          <p:cNvSpPr>
            <a:spLocks noGrp="1"/>
          </p:cNvSpPr>
          <p:nvPr>
            <p:ph type="dt" sz="half" idx="10"/>
          </p:nvPr>
        </p:nvSpPr>
        <p:spPr/>
        <p:txBody>
          <a:bodyPr/>
          <a:lstStyle/>
          <a:p>
            <a:fld id="{6AE3C3F5-43C6-4734-867C-2688255B210B}" type="datetimeFigureOut">
              <a:rPr lang="en-US" smtClean="0"/>
              <a:t>6/27/2026</a:t>
            </a:fld>
            <a:endParaRPr lang="en-US"/>
          </a:p>
        </p:txBody>
      </p:sp>
      <p:sp>
        <p:nvSpPr>
          <p:cNvPr id="5" name="Footer Placeholder 4">
            <a:extLst>
              <a:ext uri="{FF2B5EF4-FFF2-40B4-BE49-F238E27FC236}">
                <a16:creationId xmlns:a16="http://schemas.microsoft.com/office/drawing/2014/main" id="{5A25C2C9-8B73-62B1-F4C4-A2730549EB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0A5F72-B12C-1F4D-E267-617022A5C851}"/>
              </a:ext>
            </a:extLst>
          </p:cNvPr>
          <p:cNvSpPr>
            <a:spLocks noGrp="1"/>
          </p:cNvSpPr>
          <p:nvPr>
            <p:ph type="sldNum" sz="quarter" idx="12"/>
          </p:nvPr>
        </p:nvSpPr>
        <p:spPr/>
        <p:txBody>
          <a:bodyPr/>
          <a:lstStyle/>
          <a:p>
            <a:fld id="{62D3F285-3F08-45CA-8F56-3AFBFB0FFFFF}" type="slidenum">
              <a:rPr lang="en-US" smtClean="0"/>
              <a:t>‹#›</a:t>
            </a:fld>
            <a:endParaRPr lang="en-US"/>
          </a:p>
        </p:txBody>
      </p:sp>
    </p:spTree>
    <p:extLst>
      <p:ext uri="{BB962C8B-B14F-4D97-AF65-F5344CB8AC3E}">
        <p14:creationId xmlns:p14="http://schemas.microsoft.com/office/powerpoint/2010/main" val="3518126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B303D4-DC28-2B15-7165-1A8024EB60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7FE3F6-3085-05A7-CF7C-465A210F1B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D2A7DC-2137-0342-9208-39942A420309}"/>
              </a:ext>
            </a:extLst>
          </p:cNvPr>
          <p:cNvSpPr>
            <a:spLocks noGrp="1"/>
          </p:cNvSpPr>
          <p:nvPr>
            <p:ph type="dt" sz="half" idx="10"/>
          </p:nvPr>
        </p:nvSpPr>
        <p:spPr/>
        <p:txBody>
          <a:bodyPr/>
          <a:lstStyle/>
          <a:p>
            <a:fld id="{6AE3C3F5-43C6-4734-867C-2688255B210B}" type="datetimeFigureOut">
              <a:rPr lang="en-US" smtClean="0"/>
              <a:t>6/27/2026</a:t>
            </a:fld>
            <a:endParaRPr lang="en-US"/>
          </a:p>
        </p:txBody>
      </p:sp>
      <p:sp>
        <p:nvSpPr>
          <p:cNvPr id="5" name="Footer Placeholder 4">
            <a:extLst>
              <a:ext uri="{FF2B5EF4-FFF2-40B4-BE49-F238E27FC236}">
                <a16:creationId xmlns:a16="http://schemas.microsoft.com/office/drawing/2014/main" id="{3166D861-842D-6C8A-106C-90EC01EDC1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310A82-7884-3227-603A-2E1C145C8D38}"/>
              </a:ext>
            </a:extLst>
          </p:cNvPr>
          <p:cNvSpPr>
            <a:spLocks noGrp="1"/>
          </p:cNvSpPr>
          <p:nvPr>
            <p:ph type="sldNum" sz="quarter" idx="12"/>
          </p:nvPr>
        </p:nvSpPr>
        <p:spPr/>
        <p:txBody>
          <a:bodyPr/>
          <a:lstStyle/>
          <a:p>
            <a:fld id="{62D3F285-3F08-45CA-8F56-3AFBFB0FFFFF}" type="slidenum">
              <a:rPr lang="en-US" smtClean="0"/>
              <a:t>‹#›</a:t>
            </a:fld>
            <a:endParaRPr lang="en-US"/>
          </a:p>
        </p:txBody>
      </p:sp>
    </p:spTree>
    <p:extLst>
      <p:ext uri="{BB962C8B-B14F-4D97-AF65-F5344CB8AC3E}">
        <p14:creationId xmlns:p14="http://schemas.microsoft.com/office/powerpoint/2010/main" val="2797712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C85429-A60C-EA7A-C8D5-23FEA0099D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5F6EE5F-3CCB-DDAF-2E4D-C3341FEFB0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49E4AD-8BB8-72A1-D0A8-50F81C614E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E3C3F5-43C6-4734-867C-2688255B210B}" type="datetimeFigureOut">
              <a:rPr lang="en-US" smtClean="0"/>
              <a:t>6/27/2026</a:t>
            </a:fld>
            <a:endParaRPr lang="en-US"/>
          </a:p>
        </p:txBody>
      </p:sp>
      <p:sp>
        <p:nvSpPr>
          <p:cNvPr id="5" name="Footer Placeholder 4">
            <a:extLst>
              <a:ext uri="{FF2B5EF4-FFF2-40B4-BE49-F238E27FC236}">
                <a16:creationId xmlns:a16="http://schemas.microsoft.com/office/drawing/2014/main" id="{22F4EBC0-240F-9FCA-1597-A7F75C88D4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F54662-5A00-2EED-AAAE-B9C2DCF8C3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D3F285-3F08-45CA-8F56-3AFBFB0FFFFF}" type="slidenum">
              <a:rPr lang="en-US" smtClean="0"/>
              <a:t>‹#›</a:t>
            </a:fld>
            <a:endParaRPr lang="en-US"/>
          </a:p>
        </p:txBody>
      </p:sp>
    </p:spTree>
    <p:extLst>
      <p:ext uri="{BB962C8B-B14F-4D97-AF65-F5344CB8AC3E}">
        <p14:creationId xmlns:p14="http://schemas.microsoft.com/office/powerpoint/2010/main" val="24997851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8.xml"/><Relationship Id="rId7" Type="http://schemas.openxmlformats.org/officeDocument/2006/relationships/image" Target="../media/image4.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8.xml"/><Relationship Id="rId7" Type="http://schemas.openxmlformats.org/officeDocument/2006/relationships/image" Target="../media/image8.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5.png"/><Relationship Id="rId3" Type="http://schemas.openxmlformats.org/officeDocument/2006/relationships/audio" Target="../media/media5.m4a"/><Relationship Id="rId7" Type="http://schemas.openxmlformats.org/officeDocument/2006/relationships/image" Target="../media/image10.png"/><Relationship Id="rId12" Type="http://schemas.openxmlformats.org/officeDocument/2006/relationships/image" Target="../media/image14.png"/><Relationship Id="rId2" Type="http://schemas.microsoft.com/office/2007/relationships/media" Target="../media/media5.m4a"/><Relationship Id="rId1" Type="http://schemas.openxmlformats.org/officeDocument/2006/relationships/tags" Target="../tags/tag1.xml"/><Relationship Id="rId6" Type="http://schemas.openxmlformats.org/officeDocument/2006/relationships/image" Target="../media/image9.png"/><Relationship Id="rId11" Type="http://schemas.openxmlformats.org/officeDocument/2006/relationships/image" Target="../media/image1.png"/><Relationship Id="rId5" Type="http://schemas.openxmlformats.org/officeDocument/2006/relationships/notesSlide" Target="../notesSlides/notesSlide5.xml"/><Relationship Id="rId10" Type="http://schemas.openxmlformats.org/officeDocument/2006/relationships/image" Target="../media/image13.png"/><Relationship Id="rId4" Type="http://schemas.openxmlformats.org/officeDocument/2006/relationships/slideLayout" Target="../slideLayouts/slideLayout8.xml"/><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8.xml"/><Relationship Id="rId7" Type="http://schemas.openxmlformats.org/officeDocument/2006/relationships/image" Target="../media/image18.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1.png"/><Relationship Id="rId5" Type="http://schemas.openxmlformats.org/officeDocument/2006/relationships/image" Target="../media/image19.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audio" Target="../media/media8.m4a"/><Relationship Id="rId7" Type="http://schemas.openxmlformats.org/officeDocument/2006/relationships/image" Target="../media/image21.png"/><Relationship Id="rId2" Type="http://schemas.microsoft.com/office/2007/relationships/media" Target="../media/media8.m4a"/><Relationship Id="rId1" Type="http://schemas.openxmlformats.org/officeDocument/2006/relationships/tags" Target="../tags/tag2.xml"/><Relationship Id="rId6" Type="http://schemas.openxmlformats.org/officeDocument/2006/relationships/image" Target="../media/image20.png"/><Relationship Id="rId5" Type="http://schemas.openxmlformats.org/officeDocument/2006/relationships/notesSlide" Target="../notesSlides/notesSlide8.xml"/><Relationship Id="rId4" Type="http://schemas.openxmlformats.org/officeDocument/2006/relationships/slideLayout" Target="../slideLayouts/slideLayout8.xml"/><Relationship Id="rId9"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1.xml"/><Relationship Id="rId7" Type="http://schemas.openxmlformats.org/officeDocument/2006/relationships/hyperlink" Target="https://www.milbank.org/quarterly/articles/the-future-of-public-health-ensuring-an-adequate-infrastructure/" TargetMode="Externa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hyperlink" Target="https://pubmed.ncbi.nlm.nih.gov/33731887/" TargetMode="External"/><Relationship Id="rId5" Type="http://schemas.openxmlformats.org/officeDocument/2006/relationships/hyperlink" Target="https://pmc.ncbi.nlm.nih.gov/articles/PMC8765800/" TargetMode="Externa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F3D3A-3398-767B-05DC-FB98BE28A0E3}"/>
              </a:ext>
            </a:extLst>
          </p:cNvPr>
          <p:cNvSpPr>
            <a:spLocks noGrp="1"/>
          </p:cNvSpPr>
          <p:nvPr>
            <p:ph type="ctrTitle"/>
          </p:nvPr>
        </p:nvSpPr>
        <p:spPr/>
        <p:txBody>
          <a:bodyPr/>
          <a:lstStyle/>
          <a:p>
            <a:r>
              <a:rPr lang="en-US" dirty="0"/>
              <a:t>Reframing Healthcare</a:t>
            </a:r>
          </a:p>
        </p:txBody>
      </p:sp>
      <p:sp>
        <p:nvSpPr>
          <p:cNvPr id="5" name="Subtitle 4">
            <a:extLst>
              <a:ext uri="{FF2B5EF4-FFF2-40B4-BE49-F238E27FC236}">
                <a16:creationId xmlns:a16="http://schemas.microsoft.com/office/drawing/2014/main" id="{EF518863-686B-6F90-E745-205C4EC3BD45}"/>
              </a:ext>
            </a:extLst>
          </p:cNvPr>
          <p:cNvSpPr>
            <a:spLocks noGrp="1"/>
          </p:cNvSpPr>
          <p:nvPr>
            <p:ph type="subTitle" idx="1"/>
          </p:nvPr>
        </p:nvSpPr>
        <p:spPr/>
        <p:txBody>
          <a:bodyPr/>
          <a:lstStyle/>
          <a:p>
            <a:r>
              <a:rPr lang="en-US" dirty="0"/>
              <a:t>A 10 to 15 years Outlook</a:t>
            </a:r>
          </a:p>
        </p:txBody>
      </p:sp>
      <p:pic>
        <p:nvPicPr>
          <p:cNvPr id="60" name="Audio 59">
            <a:hlinkClick r:id="" action="ppaction://media"/>
            <a:extLst>
              <a:ext uri="{FF2B5EF4-FFF2-40B4-BE49-F238E27FC236}">
                <a16:creationId xmlns:a16="http://schemas.microsoft.com/office/drawing/2014/main" id="{6A130417-4F43-1CA5-03BA-533DD56CF73F}"/>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843876819"/>
      </p:ext>
    </p:extLst>
  </p:cSld>
  <p:clrMapOvr>
    <a:masterClrMapping/>
  </p:clrMapOvr>
  <mc:AlternateContent xmlns:mc="http://schemas.openxmlformats.org/markup-compatibility/2006" xmlns:p14="http://schemas.microsoft.com/office/powerpoint/2010/main">
    <mc:Choice Requires="p14">
      <p:transition spd="slow" p14:dur="2000" advTm="34392"/>
    </mc:Choice>
    <mc:Fallback xmlns="">
      <p:transition spd="slow" advTm="343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0"/>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498A781-D4B5-9876-D341-412281DD0BA5}"/>
              </a:ext>
            </a:extLst>
          </p:cNvPr>
          <p:cNvSpPr>
            <a:spLocks noGrp="1"/>
          </p:cNvSpPr>
          <p:nvPr>
            <p:ph type="title"/>
          </p:nvPr>
        </p:nvSpPr>
        <p:spPr/>
        <p:txBody>
          <a:bodyPr/>
          <a:lstStyle/>
          <a:p>
            <a:r>
              <a:rPr lang="en-US" dirty="0"/>
              <a:t>Legacy Framework</a:t>
            </a:r>
          </a:p>
        </p:txBody>
      </p:sp>
      <p:pic>
        <p:nvPicPr>
          <p:cNvPr id="10" name="Content Placeholder 9">
            <a:extLst>
              <a:ext uri="{FF2B5EF4-FFF2-40B4-BE49-F238E27FC236}">
                <a16:creationId xmlns:a16="http://schemas.microsoft.com/office/drawing/2014/main" id="{0605F658-DEF0-845E-52CF-595E5B444836}"/>
              </a:ext>
            </a:extLst>
          </p:cNvPr>
          <p:cNvPicPr>
            <a:picLocks noGrp="1" noChangeAspect="1"/>
          </p:cNvPicPr>
          <p:nvPr>
            <p:ph idx="1"/>
          </p:nvPr>
        </p:nvPicPr>
        <p:blipFill>
          <a:blip r:embed="rId5"/>
          <a:stretch>
            <a:fillRect/>
          </a:stretch>
        </p:blipFill>
        <p:spPr>
          <a:xfrm>
            <a:off x="5183188" y="1122310"/>
            <a:ext cx="2470340" cy="1842631"/>
          </a:xfrm>
        </p:spPr>
      </p:pic>
      <p:sp>
        <p:nvSpPr>
          <p:cNvPr id="6" name="Text Placeholder 5">
            <a:extLst>
              <a:ext uri="{FF2B5EF4-FFF2-40B4-BE49-F238E27FC236}">
                <a16:creationId xmlns:a16="http://schemas.microsoft.com/office/drawing/2014/main" id="{5A1441B9-0A4A-393C-4B04-15EE3F17F860}"/>
              </a:ext>
            </a:extLst>
          </p:cNvPr>
          <p:cNvSpPr>
            <a:spLocks noGrp="1"/>
          </p:cNvSpPr>
          <p:nvPr>
            <p:ph type="body" sz="half" idx="2"/>
          </p:nvPr>
        </p:nvSpPr>
        <p:spPr>
          <a:xfrm>
            <a:off x="839788" y="2057400"/>
            <a:ext cx="4343400" cy="3811588"/>
          </a:xfrm>
        </p:spPr>
        <p:txBody>
          <a:bodyPr/>
          <a:lstStyle/>
          <a:p>
            <a:endParaRPr lang="en-US" dirty="0"/>
          </a:p>
          <a:p>
            <a:pPr marL="342900" indent="-342900">
              <a:buFont typeface="+mj-lt"/>
              <a:buAutoNum type="arabicPeriod"/>
            </a:pPr>
            <a:r>
              <a:rPr lang="en-US" dirty="0"/>
              <a:t>Fee-for-service (FFS) reimbursement rewards volume over outcomes</a:t>
            </a:r>
          </a:p>
          <a:p>
            <a:pPr marL="342900" indent="-342900">
              <a:buFont typeface="+mj-lt"/>
              <a:buAutoNum type="arabicPeriod"/>
            </a:pPr>
            <a:r>
              <a:rPr lang="en-US" dirty="0"/>
              <a:t>Hospital-centric, brick-and-mortar delivery model</a:t>
            </a:r>
          </a:p>
          <a:p>
            <a:pPr marL="342900" indent="-342900">
              <a:buFont typeface="+mj-lt"/>
              <a:buAutoNum type="arabicPeriod"/>
            </a:pPr>
            <a:r>
              <a:rPr lang="en-US" dirty="0"/>
              <a:t>Limited integration of social and contextual determinants of health</a:t>
            </a:r>
          </a:p>
          <a:p>
            <a:pPr marL="342900" indent="-342900">
              <a:buFont typeface="+mj-lt"/>
              <a:buAutoNum type="arabicPeriod"/>
            </a:pPr>
            <a:r>
              <a:rPr lang="en-US" dirty="0"/>
              <a:t>High costs with inconsistent patient outcomes</a:t>
            </a:r>
          </a:p>
        </p:txBody>
      </p:sp>
      <p:pic>
        <p:nvPicPr>
          <p:cNvPr id="18" name="Picture 17">
            <a:extLst>
              <a:ext uri="{FF2B5EF4-FFF2-40B4-BE49-F238E27FC236}">
                <a16:creationId xmlns:a16="http://schemas.microsoft.com/office/drawing/2014/main" id="{0EA52402-0428-BE55-4FCB-C18FC65D9DE1}"/>
              </a:ext>
            </a:extLst>
          </p:cNvPr>
          <p:cNvPicPr>
            <a:picLocks noChangeAspect="1"/>
          </p:cNvPicPr>
          <p:nvPr/>
        </p:nvPicPr>
        <p:blipFill>
          <a:blip r:embed="rId6"/>
          <a:stretch>
            <a:fillRect/>
          </a:stretch>
        </p:blipFill>
        <p:spPr>
          <a:xfrm>
            <a:off x="7653527" y="1136084"/>
            <a:ext cx="3465611" cy="1916945"/>
          </a:xfrm>
          <a:prstGeom prst="rect">
            <a:avLst/>
          </a:prstGeom>
        </p:spPr>
      </p:pic>
      <p:pic>
        <p:nvPicPr>
          <p:cNvPr id="14" name="Picture 13">
            <a:extLst>
              <a:ext uri="{FF2B5EF4-FFF2-40B4-BE49-F238E27FC236}">
                <a16:creationId xmlns:a16="http://schemas.microsoft.com/office/drawing/2014/main" id="{F79F11B1-242D-3DF4-6001-F00F2E23ACF3}"/>
              </a:ext>
            </a:extLst>
          </p:cNvPr>
          <p:cNvPicPr>
            <a:picLocks noChangeAspect="1"/>
          </p:cNvPicPr>
          <p:nvPr/>
        </p:nvPicPr>
        <p:blipFill>
          <a:blip r:embed="rId7"/>
          <a:stretch>
            <a:fillRect/>
          </a:stretch>
        </p:blipFill>
        <p:spPr>
          <a:xfrm>
            <a:off x="5183188" y="2964941"/>
            <a:ext cx="5935951" cy="2482826"/>
          </a:xfrm>
          <a:prstGeom prst="rect">
            <a:avLst/>
          </a:prstGeom>
        </p:spPr>
      </p:pic>
      <p:pic>
        <p:nvPicPr>
          <p:cNvPr id="58" name="Audio 57">
            <a:hlinkClick r:id="" action="ppaction://media"/>
            <a:extLst>
              <a:ext uri="{FF2B5EF4-FFF2-40B4-BE49-F238E27FC236}">
                <a16:creationId xmlns:a16="http://schemas.microsoft.com/office/drawing/2014/main" id="{A38917C6-D6D1-0548-EB77-6F01C4DE2F04}"/>
              </a:ext>
            </a:extLst>
          </p:cNvPr>
          <p:cNvPicPr>
            <a:picLocks noChangeAspect="1"/>
          </p:cNvPicPr>
          <p:nvPr>
            <a:audioFile r:link="rId2"/>
            <p:extLst>
              <p:ext uri="{DAA4B4D4-6D71-4841-9C94-3DE7FCFB9230}">
                <p14:media xmlns:p14="http://schemas.microsoft.com/office/powerpoint/2010/main" r:embed="rId1"/>
              </p:ext>
            </p:extLst>
          </p:nvPr>
        </p:nvPicPr>
        <p:blipFill>
          <a:blip r:embed="rId8"/>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784338786"/>
      </p:ext>
    </p:extLst>
  </p:cSld>
  <p:clrMapOvr>
    <a:masterClrMapping/>
  </p:clrMapOvr>
  <mc:AlternateContent xmlns:mc="http://schemas.openxmlformats.org/markup-compatibility/2006" xmlns:p14="http://schemas.microsoft.com/office/powerpoint/2010/main">
    <mc:Choice Requires="p14">
      <p:transition spd="slow" p14:dur="2000" advTm="43288"/>
    </mc:Choice>
    <mc:Fallback xmlns="">
      <p:transition spd="slow" advTm="432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A1F0C-889A-FBED-6506-10F601AA83DD}"/>
              </a:ext>
            </a:extLst>
          </p:cNvPr>
          <p:cNvSpPr>
            <a:spLocks noGrp="1"/>
          </p:cNvSpPr>
          <p:nvPr>
            <p:ph type="title"/>
          </p:nvPr>
        </p:nvSpPr>
        <p:spPr/>
        <p:txBody>
          <a:bodyPr/>
          <a:lstStyle/>
          <a:p>
            <a:r>
              <a:rPr lang="en-US" dirty="0"/>
              <a:t>Eliminating Barriers</a:t>
            </a:r>
          </a:p>
        </p:txBody>
      </p:sp>
      <p:sp>
        <p:nvSpPr>
          <p:cNvPr id="3" name="Content Placeholder 2">
            <a:extLst>
              <a:ext uri="{FF2B5EF4-FFF2-40B4-BE49-F238E27FC236}">
                <a16:creationId xmlns:a16="http://schemas.microsoft.com/office/drawing/2014/main" id="{A1C2E473-FD51-5FE5-1087-33AF783A31CD}"/>
              </a:ext>
            </a:extLst>
          </p:cNvPr>
          <p:cNvSpPr>
            <a:spLocks noGrp="1"/>
          </p:cNvSpPr>
          <p:nvPr>
            <p:ph idx="1"/>
          </p:nvPr>
        </p:nvSpPr>
        <p:spPr/>
        <p:txBody>
          <a:bodyPr/>
          <a:lstStyle/>
          <a:p>
            <a:endParaRPr lang="en-US" dirty="0"/>
          </a:p>
        </p:txBody>
      </p:sp>
      <p:sp>
        <p:nvSpPr>
          <p:cNvPr id="4" name="Text Placeholder 3">
            <a:extLst>
              <a:ext uri="{FF2B5EF4-FFF2-40B4-BE49-F238E27FC236}">
                <a16:creationId xmlns:a16="http://schemas.microsoft.com/office/drawing/2014/main" id="{2D8B6248-84BF-BEC4-EDD5-FB045FEC042B}"/>
              </a:ext>
            </a:extLst>
          </p:cNvPr>
          <p:cNvSpPr>
            <a:spLocks noGrp="1"/>
          </p:cNvSpPr>
          <p:nvPr>
            <p:ph type="body" sz="half" idx="2"/>
          </p:nvPr>
        </p:nvSpPr>
        <p:spPr>
          <a:xfrm>
            <a:off x="839789" y="2057400"/>
            <a:ext cx="3755071" cy="3596640"/>
          </a:xfrm>
        </p:spPr>
        <p:txBody>
          <a:bodyPr>
            <a:normAutofit fontScale="85000" lnSpcReduction="20000"/>
          </a:bodyPr>
          <a:lstStyle/>
          <a:p>
            <a:r>
              <a:rPr lang="en-US" b="1" dirty="0"/>
              <a:t>Literal</a:t>
            </a:r>
          </a:p>
          <a:p>
            <a:pPr marL="742950" lvl="1" indent="-285750">
              <a:buFont typeface="Arial" panose="020B0604020202020204" pitchFamily="34" charset="0"/>
              <a:buChar char="•"/>
            </a:pPr>
            <a:r>
              <a:rPr lang="en-US" dirty="0"/>
              <a:t>Provide Virtual, Digital, and Automated Care</a:t>
            </a:r>
          </a:p>
          <a:p>
            <a:pPr marL="742950" lvl="1" indent="-285750">
              <a:buFont typeface="Arial" panose="020B0604020202020204" pitchFamily="34" charset="0"/>
              <a:buChar char="•"/>
            </a:pPr>
            <a:r>
              <a:rPr lang="en-US" dirty="0"/>
              <a:t>Reframe Point of Need is Point of Care</a:t>
            </a:r>
          </a:p>
          <a:p>
            <a:pPr marL="742950" lvl="1" indent="-285750">
              <a:buFont typeface="Arial" panose="020B0604020202020204" pitchFamily="34" charset="0"/>
              <a:buChar char="•"/>
            </a:pPr>
            <a:r>
              <a:rPr lang="en-US" dirty="0"/>
              <a:t>Home-based Care Ecosystem</a:t>
            </a:r>
          </a:p>
          <a:p>
            <a:r>
              <a:rPr lang="en-US" b="1" dirty="0"/>
              <a:t>Conceptual</a:t>
            </a:r>
          </a:p>
          <a:p>
            <a:pPr marL="742950" lvl="1" indent="-285750">
              <a:buFont typeface="Arial" panose="020B0604020202020204" pitchFamily="34" charset="0"/>
              <a:buChar char="•"/>
            </a:pPr>
            <a:r>
              <a:rPr lang="en-US" dirty="0"/>
              <a:t>Diversity, Equity, and Inclusion</a:t>
            </a:r>
          </a:p>
          <a:p>
            <a:pPr marL="742950" lvl="1" indent="-285750">
              <a:buFont typeface="Arial" panose="020B0604020202020204" pitchFamily="34" charset="0"/>
              <a:buChar char="•"/>
            </a:pPr>
            <a:r>
              <a:rPr lang="en-US" dirty="0"/>
              <a:t>Identify and address non-clinical determinants of health</a:t>
            </a:r>
          </a:p>
          <a:p>
            <a:pPr marL="742950" lvl="1" indent="-285750">
              <a:buFont typeface="Arial" panose="020B0604020202020204" pitchFamily="34" charset="0"/>
              <a:buChar char="•"/>
            </a:pPr>
            <a:r>
              <a:rPr lang="en-US" dirty="0"/>
              <a:t>Customized health addressing contextual concerns with whole health care focus system</a:t>
            </a:r>
          </a:p>
          <a:p>
            <a:r>
              <a:rPr lang="en-US" b="1" dirty="0"/>
              <a:t>Systematic</a:t>
            </a:r>
          </a:p>
          <a:p>
            <a:pPr marL="742950" lvl="1" indent="-285750">
              <a:buFont typeface="Arial" panose="020B0604020202020204" pitchFamily="34" charset="0"/>
              <a:buChar char="•"/>
            </a:pPr>
            <a:r>
              <a:rPr lang="en-US" dirty="0"/>
              <a:t>Use of platforms powered by the “Network Effect”</a:t>
            </a:r>
          </a:p>
          <a:p>
            <a:pPr marL="742950" lvl="1" indent="-285750">
              <a:buFont typeface="Arial" panose="020B0604020202020204" pitchFamily="34" charset="0"/>
              <a:buChar char="•"/>
            </a:pPr>
            <a:r>
              <a:rPr lang="en-US" dirty="0"/>
              <a:t>Create Partnerships, Collaborations and Integrations with other systems and industries</a:t>
            </a:r>
          </a:p>
          <a:p>
            <a:pPr marL="742950" lvl="1" indent="-285750">
              <a:buFont typeface="Arial" panose="020B0604020202020204" pitchFamily="34" charset="0"/>
              <a:buChar char="•"/>
            </a:pPr>
            <a:r>
              <a:rPr lang="en-US" dirty="0"/>
              <a:t>Reframe Payments and policy reform beyond fee for service (FFS)</a:t>
            </a:r>
          </a:p>
        </p:txBody>
      </p:sp>
      <p:pic>
        <p:nvPicPr>
          <p:cNvPr id="6" name="Picture 5">
            <a:extLst>
              <a:ext uri="{FF2B5EF4-FFF2-40B4-BE49-F238E27FC236}">
                <a16:creationId xmlns:a16="http://schemas.microsoft.com/office/drawing/2014/main" id="{90E4CCB6-8177-6437-4212-1351360AFB8E}"/>
              </a:ext>
            </a:extLst>
          </p:cNvPr>
          <p:cNvPicPr>
            <a:picLocks noChangeAspect="1"/>
          </p:cNvPicPr>
          <p:nvPr/>
        </p:nvPicPr>
        <p:blipFill>
          <a:blip r:embed="rId5"/>
          <a:stretch>
            <a:fillRect/>
          </a:stretch>
        </p:blipFill>
        <p:spPr>
          <a:xfrm>
            <a:off x="5183188" y="996950"/>
            <a:ext cx="6183600" cy="4527550"/>
          </a:xfrm>
          <a:prstGeom prst="rect">
            <a:avLst/>
          </a:prstGeom>
        </p:spPr>
      </p:pic>
      <p:pic>
        <p:nvPicPr>
          <p:cNvPr id="71" name="Audio 70">
            <a:hlinkClick r:id="" action="ppaction://media"/>
            <a:extLst>
              <a:ext uri="{FF2B5EF4-FFF2-40B4-BE49-F238E27FC236}">
                <a16:creationId xmlns:a16="http://schemas.microsoft.com/office/drawing/2014/main" id="{CA5A9B24-BABA-8895-82D0-53C9E73C2652}"/>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083787311"/>
      </p:ext>
    </p:extLst>
  </p:cSld>
  <p:clrMapOvr>
    <a:masterClrMapping/>
  </p:clrMapOvr>
  <mc:AlternateContent xmlns:mc="http://schemas.openxmlformats.org/markup-compatibility/2006" xmlns:p14="http://schemas.microsoft.com/office/powerpoint/2010/main">
    <mc:Choice Requires="p14">
      <p:transition spd="slow" p14:dur="2000" advTm="92712"/>
    </mc:Choice>
    <mc:Fallback xmlns="">
      <p:transition spd="slow" advTm="927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1"/>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0C066-F29B-95B4-1E85-2A0811177F03}"/>
              </a:ext>
            </a:extLst>
          </p:cNvPr>
          <p:cNvSpPr>
            <a:spLocks noGrp="1"/>
          </p:cNvSpPr>
          <p:nvPr>
            <p:ph type="title"/>
          </p:nvPr>
        </p:nvSpPr>
        <p:spPr/>
        <p:txBody>
          <a:bodyPr/>
          <a:lstStyle/>
          <a:p>
            <a:r>
              <a:rPr lang="en-US" dirty="0"/>
              <a:t>Whole Person Humanized Health</a:t>
            </a:r>
          </a:p>
        </p:txBody>
      </p:sp>
      <p:pic>
        <p:nvPicPr>
          <p:cNvPr id="6" name="Content Placeholder 5">
            <a:extLst>
              <a:ext uri="{FF2B5EF4-FFF2-40B4-BE49-F238E27FC236}">
                <a16:creationId xmlns:a16="http://schemas.microsoft.com/office/drawing/2014/main" id="{3F55A9F4-4A8F-7686-AD45-FDF66884F331}"/>
              </a:ext>
            </a:extLst>
          </p:cNvPr>
          <p:cNvPicPr>
            <a:picLocks noGrp="1" noChangeAspect="1"/>
          </p:cNvPicPr>
          <p:nvPr>
            <p:ph idx="1"/>
          </p:nvPr>
        </p:nvPicPr>
        <p:blipFill>
          <a:blip r:embed="rId5"/>
          <a:stretch>
            <a:fillRect/>
          </a:stretch>
        </p:blipFill>
        <p:spPr>
          <a:xfrm>
            <a:off x="5648008" y="569676"/>
            <a:ext cx="4989512" cy="2975447"/>
          </a:xfrm>
        </p:spPr>
      </p:pic>
      <p:sp>
        <p:nvSpPr>
          <p:cNvPr id="4" name="Text Placeholder 3">
            <a:extLst>
              <a:ext uri="{FF2B5EF4-FFF2-40B4-BE49-F238E27FC236}">
                <a16:creationId xmlns:a16="http://schemas.microsoft.com/office/drawing/2014/main" id="{810C8CC0-0B29-069E-AD79-FFB80FDD3FD8}"/>
              </a:ext>
            </a:extLst>
          </p:cNvPr>
          <p:cNvSpPr>
            <a:spLocks noGrp="1"/>
          </p:cNvSpPr>
          <p:nvPr>
            <p:ph type="body" sz="half" idx="2"/>
          </p:nvPr>
        </p:nvSpPr>
        <p:spPr>
          <a:xfrm>
            <a:off x="839788" y="2057400"/>
            <a:ext cx="4136072" cy="3811588"/>
          </a:xfrm>
        </p:spPr>
        <p:txBody>
          <a:bodyPr>
            <a:normAutofit/>
          </a:bodyPr>
          <a:lstStyle/>
          <a:p>
            <a:pPr marL="342900" indent="-342900">
              <a:buFont typeface="+mj-lt"/>
              <a:buAutoNum type="arabicPeriod"/>
            </a:pPr>
            <a:r>
              <a:rPr lang="en-US" dirty="0"/>
              <a:t>Value-based &amp; Direct to Employer Plans</a:t>
            </a:r>
          </a:p>
          <a:p>
            <a:pPr marL="342900" indent="-342900">
              <a:buFont typeface="+mj-lt"/>
              <a:buAutoNum type="arabicPeriod"/>
            </a:pPr>
            <a:r>
              <a:rPr lang="en-US" dirty="0"/>
              <a:t>Adopt “Flywheel” model to fostering  customer daily habit</a:t>
            </a:r>
          </a:p>
          <a:p>
            <a:pPr marL="342900" indent="-342900">
              <a:buFont typeface="+mj-lt"/>
              <a:buAutoNum type="arabicPeriod"/>
            </a:pPr>
            <a:r>
              <a:rPr lang="en-US" dirty="0"/>
              <a:t>Create platforms facilitating “Network Effect” empowering consumerism</a:t>
            </a:r>
          </a:p>
          <a:p>
            <a:pPr marL="342900" indent="-342900">
              <a:buFont typeface="+mj-lt"/>
              <a:buAutoNum type="arabicPeriod"/>
            </a:pPr>
            <a:r>
              <a:rPr lang="en-US" dirty="0"/>
              <a:t>Enable ease of access to care 24/7 model supporting home-based ecosystems and virtual care</a:t>
            </a:r>
          </a:p>
          <a:p>
            <a:pPr marL="342900" indent="-342900">
              <a:buFont typeface="+mj-lt"/>
              <a:buAutoNum type="arabicPeriod"/>
            </a:pPr>
            <a:r>
              <a:rPr lang="en-US" dirty="0"/>
              <a:t>Health system partnerships that expanding vertically (contextual, emotional, spiritual, and SDOH)</a:t>
            </a:r>
          </a:p>
          <a:p>
            <a:pPr marL="342900" indent="-342900">
              <a:buFont typeface="+mj-lt"/>
              <a:buAutoNum type="arabicPeriod"/>
            </a:pPr>
            <a:r>
              <a:rPr lang="en-US" dirty="0"/>
              <a:t>Focus on whole personal health and wellness</a:t>
            </a:r>
          </a:p>
          <a:p>
            <a:pPr marL="342900" indent="-342900">
              <a:buFont typeface="+mj-lt"/>
              <a:buAutoNum type="arabicPeriod"/>
            </a:pPr>
            <a:endParaRPr lang="en-US" dirty="0"/>
          </a:p>
        </p:txBody>
      </p:sp>
      <p:pic>
        <p:nvPicPr>
          <p:cNvPr id="10" name="Picture 9">
            <a:extLst>
              <a:ext uri="{FF2B5EF4-FFF2-40B4-BE49-F238E27FC236}">
                <a16:creationId xmlns:a16="http://schemas.microsoft.com/office/drawing/2014/main" id="{7D789B8C-F904-705D-FC42-2D433777915E}"/>
              </a:ext>
            </a:extLst>
          </p:cNvPr>
          <p:cNvPicPr>
            <a:picLocks noChangeAspect="1"/>
          </p:cNvPicPr>
          <p:nvPr/>
        </p:nvPicPr>
        <p:blipFill>
          <a:blip r:embed="rId6"/>
          <a:stretch>
            <a:fillRect/>
          </a:stretch>
        </p:blipFill>
        <p:spPr>
          <a:xfrm>
            <a:off x="5805099" y="3429000"/>
            <a:ext cx="2824089" cy="1888297"/>
          </a:xfrm>
          <a:prstGeom prst="rect">
            <a:avLst/>
          </a:prstGeom>
        </p:spPr>
      </p:pic>
      <p:pic>
        <p:nvPicPr>
          <p:cNvPr id="8" name="Picture 7">
            <a:extLst>
              <a:ext uri="{FF2B5EF4-FFF2-40B4-BE49-F238E27FC236}">
                <a16:creationId xmlns:a16="http://schemas.microsoft.com/office/drawing/2014/main" id="{75F43E0D-7F2E-EDCD-28E1-1F71CD666C46}"/>
              </a:ext>
            </a:extLst>
          </p:cNvPr>
          <p:cNvPicPr>
            <a:picLocks noChangeAspect="1"/>
          </p:cNvPicPr>
          <p:nvPr/>
        </p:nvPicPr>
        <p:blipFill>
          <a:blip r:embed="rId7"/>
          <a:stretch>
            <a:fillRect/>
          </a:stretch>
        </p:blipFill>
        <p:spPr>
          <a:xfrm>
            <a:off x="8379631" y="2915947"/>
            <a:ext cx="2445341" cy="2457241"/>
          </a:xfrm>
          <a:prstGeom prst="rect">
            <a:avLst/>
          </a:prstGeom>
        </p:spPr>
      </p:pic>
      <p:pic>
        <p:nvPicPr>
          <p:cNvPr id="60" name="Audio 59">
            <a:hlinkClick r:id="" action="ppaction://media"/>
            <a:extLst>
              <a:ext uri="{FF2B5EF4-FFF2-40B4-BE49-F238E27FC236}">
                <a16:creationId xmlns:a16="http://schemas.microsoft.com/office/drawing/2014/main" id="{3A67D5A8-76A5-FAB4-6CDF-C60C02CD65EC}"/>
              </a:ext>
            </a:extLst>
          </p:cNvPr>
          <p:cNvPicPr>
            <a:picLocks noChangeAspect="1"/>
          </p:cNvPicPr>
          <p:nvPr>
            <a:audioFile r:link="rId2"/>
            <p:extLst>
              <p:ext uri="{DAA4B4D4-6D71-4841-9C94-3DE7FCFB9230}">
                <p14:media xmlns:p14="http://schemas.microsoft.com/office/powerpoint/2010/main" r:embed="rId1"/>
              </p:ext>
            </p:extLst>
          </p:nvPr>
        </p:nvPicPr>
        <p:blipFill>
          <a:blip r:embed="rId8"/>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447557025"/>
      </p:ext>
    </p:extLst>
  </p:cSld>
  <p:clrMapOvr>
    <a:masterClrMapping/>
  </p:clrMapOvr>
  <mc:AlternateContent xmlns:mc="http://schemas.openxmlformats.org/markup-compatibility/2006" xmlns:p14="http://schemas.microsoft.com/office/powerpoint/2010/main">
    <mc:Choice Requires="p14">
      <p:transition spd="slow" p14:dur="2000" advTm="107839"/>
    </mc:Choice>
    <mc:Fallback xmlns="">
      <p:transition spd="slow" advTm="1078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0"/>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50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fade">
                                      <p:cBhvr>
                                        <p:cTn id="11" dur="500"/>
                                        <p:tgtEl>
                                          <p:spTgt spid="4">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50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fade">
                                      <p:cBhvr>
                                        <p:cTn id="16" dur="500"/>
                                        <p:tgtEl>
                                          <p:spTgt spid="4">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50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500"/>
                                        <p:tgtEl>
                                          <p:spTgt spid="4">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500"/>
                                  </p:stCondLst>
                                  <p:childTnLst>
                                    <p:set>
                                      <p:cBhvr>
                                        <p:cTn id="25" dur="1" fill="hold">
                                          <p:stCondLst>
                                            <p:cond delay="0"/>
                                          </p:stCondLst>
                                        </p:cTn>
                                        <p:tgtEl>
                                          <p:spTgt spid="4">
                                            <p:txEl>
                                              <p:pRg st="4" end="4"/>
                                            </p:txEl>
                                          </p:spTgt>
                                        </p:tgtEl>
                                        <p:attrNameLst>
                                          <p:attrName>style.visibility</p:attrName>
                                        </p:attrNameLst>
                                      </p:cBhvr>
                                      <p:to>
                                        <p:strVal val="visible"/>
                                      </p:to>
                                    </p:set>
                                    <p:animEffect transition="in" filter="fade">
                                      <p:cBhvr>
                                        <p:cTn id="26" dur="500"/>
                                        <p:tgtEl>
                                          <p:spTgt spid="4">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500"/>
                                  </p:stCondLst>
                                  <p:childTnLst>
                                    <p:set>
                                      <p:cBhvr>
                                        <p:cTn id="30" dur="1" fill="hold">
                                          <p:stCondLst>
                                            <p:cond delay="0"/>
                                          </p:stCondLst>
                                        </p:cTn>
                                        <p:tgtEl>
                                          <p:spTgt spid="4">
                                            <p:txEl>
                                              <p:pRg st="5" end="5"/>
                                            </p:txEl>
                                          </p:spTgt>
                                        </p:tgtEl>
                                        <p:attrNameLst>
                                          <p:attrName>style.visibility</p:attrName>
                                        </p:attrNameLst>
                                      </p:cBhvr>
                                      <p:to>
                                        <p:strVal val="visible"/>
                                      </p:to>
                                    </p:set>
                                    <p:animEffect transition="in" filter="fade">
                                      <p:cBhvr>
                                        <p:cTn id="31"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2" fill="hold" display="0">
                  <p:stCondLst>
                    <p:cond delay="indefinite"/>
                  </p:stCondLst>
                  <p:endCondLst>
                    <p:cond evt="onStopAudio" delay="0">
                      <p:tgtEl>
                        <p:sldTgt/>
                      </p:tgtEl>
                    </p:cond>
                  </p:endCondLst>
                </p:cTn>
                <p:tgtEl>
                  <p:spTgt spid="60"/>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D2AE950-D93B-1D55-060F-E088DEC566C5}"/>
              </a:ext>
            </a:extLst>
          </p:cNvPr>
          <p:cNvPicPr>
            <a:picLocks noChangeAspect="1"/>
          </p:cNvPicPr>
          <p:nvPr/>
        </p:nvPicPr>
        <p:blipFill>
          <a:blip r:embed="rId6"/>
          <a:stretch>
            <a:fillRect/>
          </a:stretch>
        </p:blipFill>
        <p:spPr>
          <a:xfrm>
            <a:off x="7642260" y="1552540"/>
            <a:ext cx="3629851" cy="1831489"/>
          </a:xfrm>
          <a:prstGeom prst="rect">
            <a:avLst/>
          </a:prstGeom>
        </p:spPr>
      </p:pic>
      <p:pic>
        <p:nvPicPr>
          <p:cNvPr id="14" name="Picture 13">
            <a:extLst>
              <a:ext uri="{FF2B5EF4-FFF2-40B4-BE49-F238E27FC236}">
                <a16:creationId xmlns:a16="http://schemas.microsoft.com/office/drawing/2014/main" id="{6E192919-352E-292D-84DC-42901782D514}"/>
              </a:ext>
            </a:extLst>
          </p:cNvPr>
          <p:cNvPicPr>
            <a:picLocks noChangeAspect="1"/>
          </p:cNvPicPr>
          <p:nvPr/>
        </p:nvPicPr>
        <p:blipFill>
          <a:blip r:embed="rId7"/>
          <a:stretch>
            <a:fillRect/>
          </a:stretch>
        </p:blipFill>
        <p:spPr>
          <a:xfrm>
            <a:off x="8679218" y="3301255"/>
            <a:ext cx="2465232" cy="1624598"/>
          </a:xfrm>
          <a:prstGeom prst="rect">
            <a:avLst/>
          </a:prstGeom>
        </p:spPr>
      </p:pic>
      <p:sp>
        <p:nvSpPr>
          <p:cNvPr id="2" name="Title 1">
            <a:extLst>
              <a:ext uri="{FF2B5EF4-FFF2-40B4-BE49-F238E27FC236}">
                <a16:creationId xmlns:a16="http://schemas.microsoft.com/office/drawing/2014/main" id="{D7B5615E-021B-C7B6-081C-01057597D381}"/>
              </a:ext>
            </a:extLst>
          </p:cNvPr>
          <p:cNvSpPr>
            <a:spLocks noGrp="1"/>
          </p:cNvSpPr>
          <p:nvPr>
            <p:ph type="title"/>
          </p:nvPr>
        </p:nvSpPr>
        <p:spPr/>
        <p:txBody>
          <a:bodyPr/>
          <a:lstStyle/>
          <a:p>
            <a:r>
              <a:rPr lang="en-US" dirty="0"/>
              <a:t>Where to find Care?</a:t>
            </a:r>
          </a:p>
        </p:txBody>
      </p:sp>
      <p:sp>
        <p:nvSpPr>
          <p:cNvPr id="4" name="Text Placeholder 3">
            <a:extLst>
              <a:ext uri="{FF2B5EF4-FFF2-40B4-BE49-F238E27FC236}">
                <a16:creationId xmlns:a16="http://schemas.microsoft.com/office/drawing/2014/main" id="{0536B093-FED3-3C45-5832-D30962EE144C}"/>
              </a:ext>
            </a:extLst>
          </p:cNvPr>
          <p:cNvSpPr>
            <a:spLocks noGrp="1"/>
          </p:cNvSpPr>
          <p:nvPr>
            <p:ph type="body" sz="half" idx="2"/>
          </p:nvPr>
        </p:nvSpPr>
        <p:spPr>
          <a:xfrm>
            <a:off x="839788" y="2057400"/>
            <a:ext cx="4212272" cy="3811588"/>
          </a:xfrm>
        </p:spPr>
        <p:txBody>
          <a:bodyPr>
            <a:normAutofit/>
          </a:bodyPr>
          <a:lstStyle/>
          <a:p>
            <a:r>
              <a:rPr lang="en-US" dirty="0"/>
              <a:t>Home</a:t>
            </a:r>
          </a:p>
          <a:p>
            <a:pPr marL="742950" lvl="1" indent="-285750">
              <a:buFont typeface="Arial" panose="020B0604020202020204" pitchFamily="34" charset="0"/>
              <a:buChar char="•"/>
            </a:pPr>
            <a:r>
              <a:rPr lang="en-US" dirty="0"/>
              <a:t>TV</a:t>
            </a:r>
          </a:p>
          <a:p>
            <a:pPr marL="742950" lvl="1" indent="-285750">
              <a:buFont typeface="Arial" panose="020B0604020202020204" pitchFamily="34" charset="0"/>
              <a:buChar char="•"/>
            </a:pPr>
            <a:r>
              <a:rPr lang="en-US" dirty="0"/>
              <a:t>Mobile devices</a:t>
            </a:r>
          </a:p>
          <a:p>
            <a:pPr marL="742950" lvl="1" indent="-285750">
              <a:buFont typeface="Arial" panose="020B0604020202020204" pitchFamily="34" charset="0"/>
              <a:buChar char="•"/>
            </a:pPr>
            <a:r>
              <a:rPr lang="en-US" dirty="0"/>
              <a:t>Refrigerator</a:t>
            </a:r>
          </a:p>
          <a:p>
            <a:pPr marL="742950" lvl="1" indent="-285750">
              <a:buFont typeface="Arial" panose="020B0604020202020204" pitchFamily="34" charset="0"/>
              <a:buChar char="•"/>
            </a:pPr>
            <a:r>
              <a:rPr lang="en-US" dirty="0"/>
              <a:t>Home Devices (Echo, Google Nest, Apple Home) </a:t>
            </a:r>
          </a:p>
          <a:p>
            <a:r>
              <a:rPr lang="en-US" dirty="0"/>
              <a:t>Community </a:t>
            </a:r>
          </a:p>
          <a:p>
            <a:pPr marL="742950" lvl="1" indent="-285750">
              <a:buFont typeface="Arial" panose="020B0604020202020204" pitchFamily="34" charset="0"/>
              <a:buChar char="•"/>
            </a:pPr>
            <a:r>
              <a:rPr lang="en-US" dirty="0"/>
              <a:t>At the Gym</a:t>
            </a:r>
          </a:p>
          <a:p>
            <a:pPr marL="742950" lvl="1" indent="-285750">
              <a:buFont typeface="Arial" panose="020B0604020202020204" pitchFamily="34" charset="0"/>
              <a:buChar char="•"/>
            </a:pPr>
            <a:r>
              <a:rPr lang="en-US" dirty="0"/>
              <a:t>Mobile care centers</a:t>
            </a:r>
          </a:p>
          <a:p>
            <a:pPr marL="742950" lvl="1" indent="-285750">
              <a:buFont typeface="Arial" panose="020B0604020202020204" pitchFamily="34" charset="0"/>
              <a:buChar char="•"/>
            </a:pPr>
            <a:r>
              <a:rPr lang="en-US" dirty="0"/>
              <a:t>At the workplace</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p:txBody>
      </p:sp>
      <p:pic>
        <p:nvPicPr>
          <p:cNvPr id="5" name="Picture 4">
            <a:extLst>
              <a:ext uri="{FF2B5EF4-FFF2-40B4-BE49-F238E27FC236}">
                <a16:creationId xmlns:a16="http://schemas.microsoft.com/office/drawing/2014/main" id="{95555F87-6BF2-2B54-6BC9-687F7982BD19}"/>
              </a:ext>
            </a:extLst>
          </p:cNvPr>
          <p:cNvPicPr>
            <a:picLocks noChangeAspect="1"/>
          </p:cNvPicPr>
          <p:nvPr/>
        </p:nvPicPr>
        <p:blipFill>
          <a:blip r:embed="rId8"/>
          <a:stretch>
            <a:fillRect/>
          </a:stretch>
        </p:blipFill>
        <p:spPr>
          <a:xfrm>
            <a:off x="5349222" y="1692618"/>
            <a:ext cx="2727958" cy="1715102"/>
          </a:xfrm>
          <a:prstGeom prst="rect">
            <a:avLst/>
          </a:prstGeom>
        </p:spPr>
      </p:pic>
      <p:pic>
        <p:nvPicPr>
          <p:cNvPr id="10" name="Picture 9">
            <a:extLst>
              <a:ext uri="{FF2B5EF4-FFF2-40B4-BE49-F238E27FC236}">
                <a16:creationId xmlns:a16="http://schemas.microsoft.com/office/drawing/2014/main" id="{10E65739-7A2E-7AB3-004B-84B748017B82}"/>
              </a:ext>
            </a:extLst>
          </p:cNvPr>
          <p:cNvPicPr>
            <a:picLocks noChangeAspect="1"/>
          </p:cNvPicPr>
          <p:nvPr/>
        </p:nvPicPr>
        <p:blipFill>
          <a:blip r:embed="rId9"/>
          <a:stretch>
            <a:fillRect/>
          </a:stretch>
        </p:blipFill>
        <p:spPr>
          <a:xfrm>
            <a:off x="8531259" y="4925853"/>
            <a:ext cx="2665151" cy="1364054"/>
          </a:xfrm>
          <a:prstGeom prst="rect">
            <a:avLst/>
          </a:prstGeom>
        </p:spPr>
      </p:pic>
      <p:pic>
        <p:nvPicPr>
          <p:cNvPr id="19" name="Picture 18">
            <a:extLst>
              <a:ext uri="{FF2B5EF4-FFF2-40B4-BE49-F238E27FC236}">
                <a16:creationId xmlns:a16="http://schemas.microsoft.com/office/drawing/2014/main" id="{52AD2E85-AA3D-1727-A132-D305DC6F71EA}"/>
              </a:ext>
            </a:extLst>
          </p:cNvPr>
          <p:cNvPicPr>
            <a:picLocks noChangeAspect="1"/>
          </p:cNvPicPr>
          <p:nvPr/>
        </p:nvPicPr>
        <p:blipFill>
          <a:blip r:embed="rId10"/>
          <a:stretch>
            <a:fillRect/>
          </a:stretch>
        </p:blipFill>
        <p:spPr>
          <a:xfrm>
            <a:off x="5376297" y="5150932"/>
            <a:ext cx="3154962" cy="1138975"/>
          </a:xfrm>
          <a:prstGeom prst="rect">
            <a:avLst/>
          </a:prstGeom>
        </p:spPr>
      </p:pic>
      <p:pic>
        <p:nvPicPr>
          <p:cNvPr id="81" name="Audio 80">
            <a:hlinkClick r:id="" action="ppaction://media"/>
            <a:extLst>
              <a:ext uri="{FF2B5EF4-FFF2-40B4-BE49-F238E27FC236}">
                <a16:creationId xmlns:a16="http://schemas.microsoft.com/office/drawing/2014/main" id="{87753ECE-261A-BB0B-A603-9003F36FC585}"/>
              </a:ext>
            </a:extLst>
          </p:cNvPr>
          <p:cNvPicPr>
            <a:picLocks noChangeAspect="1"/>
          </p:cNvPicPr>
          <p:nvPr>
            <a:audioFile r:link="rId3"/>
            <p:extLst>
              <p:ext uri="{DAA4B4D4-6D71-4841-9C94-3DE7FCFB9230}">
                <p14:media xmlns:p14="http://schemas.microsoft.com/office/powerpoint/2010/main" r:embed="rId2"/>
              </p:ext>
            </p:extLst>
          </p:nvPr>
        </p:nvPicPr>
        <p:blipFill>
          <a:blip r:embed="rId11"/>
          <a:srcRect l="-118750" t="-118750" r="-118750" b="-118750"/>
          <a:stretch>
            <a:fillRect/>
          </a:stretch>
        </p:blipFill>
        <p:spPr>
          <a:xfrm>
            <a:off x="10052304" y="4718304"/>
            <a:ext cx="2057400" cy="2057400"/>
          </a:xfrm>
          <a:prstGeom prst="ellipse">
            <a:avLst/>
          </a:prstGeom>
        </p:spPr>
      </p:pic>
      <p:pic>
        <p:nvPicPr>
          <p:cNvPr id="8" name="Content Placeholder 7">
            <a:extLst>
              <a:ext uri="{FF2B5EF4-FFF2-40B4-BE49-F238E27FC236}">
                <a16:creationId xmlns:a16="http://schemas.microsoft.com/office/drawing/2014/main" id="{630082A7-FD02-DCA4-2ABB-EADBFAE02DBB}"/>
              </a:ext>
            </a:extLst>
          </p:cNvPr>
          <p:cNvPicPr>
            <a:picLocks noGrp="1" noChangeAspect="1"/>
          </p:cNvPicPr>
          <p:nvPr>
            <p:ph idx="1"/>
          </p:nvPr>
        </p:nvPicPr>
        <p:blipFill>
          <a:blip r:embed="rId12"/>
          <a:stretch>
            <a:fillRect/>
          </a:stretch>
        </p:blipFill>
        <p:spPr>
          <a:xfrm>
            <a:off x="6778863" y="803866"/>
            <a:ext cx="1446276" cy="2752880"/>
          </a:xfrm>
        </p:spPr>
      </p:pic>
      <p:pic>
        <p:nvPicPr>
          <p:cNvPr id="17" name="Picture 16">
            <a:extLst>
              <a:ext uri="{FF2B5EF4-FFF2-40B4-BE49-F238E27FC236}">
                <a16:creationId xmlns:a16="http://schemas.microsoft.com/office/drawing/2014/main" id="{1214C87A-B3AA-95CE-07C9-9782C4FBEC67}"/>
              </a:ext>
            </a:extLst>
          </p:cNvPr>
          <p:cNvPicPr>
            <a:picLocks noChangeAspect="1"/>
          </p:cNvPicPr>
          <p:nvPr/>
        </p:nvPicPr>
        <p:blipFill>
          <a:blip r:embed="rId13"/>
          <a:stretch>
            <a:fillRect/>
          </a:stretch>
        </p:blipFill>
        <p:spPr>
          <a:xfrm>
            <a:off x="5402207" y="3393252"/>
            <a:ext cx="3277011" cy="1765719"/>
          </a:xfrm>
          <a:prstGeom prst="rect">
            <a:avLst/>
          </a:prstGeom>
        </p:spPr>
      </p:pic>
    </p:spTree>
    <p:custDataLst>
      <p:tags r:id="rId1"/>
    </p:custDataLst>
    <p:extLst>
      <p:ext uri="{BB962C8B-B14F-4D97-AF65-F5344CB8AC3E}">
        <p14:creationId xmlns:p14="http://schemas.microsoft.com/office/powerpoint/2010/main" val="2698888038"/>
      </p:ext>
    </p:extLst>
  </p:cSld>
  <p:clrMapOvr>
    <a:masterClrMapping/>
  </p:clrMapOvr>
  <mc:AlternateContent xmlns:mc="http://schemas.openxmlformats.org/markup-compatibility/2006" xmlns:p14="http://schemas.microsoft.com/office/powerpoint/2010/main">
    <mc:Choice Requires="p14">
      <p:transition spd="slow" p14:dur="2000" advTm="46532"/>
    </mc:Choice>
    <mc:Fallback xmlns="">
      <p:transition spd="slow" advTm="465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1"/>
                                        </p:tgtEl>
                                      </p:cBhvr>
                                    </p:cmd>
                                  </p:childTnLst>
                                </p:cTn>
                              </p:par>
                            </p:childTnLst>
                          </p:cTn>
                        </p:par>
                      </p:childTnLst>
                    </p:cTn>
                  </p:par>
                  <p:par>
                    <p:cTn id="7" fill="hold">
                      <p:stCondLst>
                        <p:cond delay="indefinite"/>
                      </p:stCondLst>
                      <p:childTnLst>
                        <p:par>
                          <p:cTn id="8" fill="hold">
                            <p:stCondLst>
                              <p:cond delay="0"/>
                            </p:stCondLst>
                            <p:childTnLst>
                              <p:par>
                                <p:cTn id="9" presetID="31" presetClass="entr" presetSubtype="0" fill="hold" nodeType="clickEffect">
                                  <p:stCondLst>
                                    <p:cond delay="750"/>
                                  </p:stCondLst>
                                  <p:childTnLst>
                                    <p:set>
                                      <p:cBhvr>
                                        <p:cTn id="10" dur="1" fill="hold">
                                          <p:stCondLst>
                                            <p:cond delay="0"/>
                                          </p:stCondLst>
                                        </p:cTn>
                                        <p:tgtEl>
                                          <p:spTgt spid="17"/>
                                        </p:tgtEl>
                                        <p:attrNameLst>
                                          <p:attrName>style.visibility</p:attrName>
                                        </p:attrNameLst>
                                      </p:cBhvr>
                                      <p:to>
                                        <p:strVal val="visible"/>
                                      </p:to>
                                    </p:set>
                                    <p:anim calcmode="lin" valueType="num">
                                      <p:cBhvr>
                                        <p:cTn id="11" dur="1000" fill="hold"/>
                                        <p:tgtEl>
                                          <p:spTgt spid="17"/>
                                        </p:tgtEl>
                                        <p:attrNameLst>
                                          <p:attrName>ppt_w</p:attrName>
                                        </p:attrNameLst>
                                      </p:cBhvr>
                                      <p:tavLst>
                                        <p:tav tm="0">
                                          <p:val>
                                            <p:fltVal val="0"/>
                                          </p:val>
                                        </p:tav>
                                        <p:tav tm="100000">
                                          <p:val>
                                            <p:strVal val="#ppt_w"/>
                                          </p:val>
                                        </p:tav>
                                      </p:tavLst>
                                    </p:anim>
                                    <p:anim calcmode="lin" valueType="num">
                                      <p:cBhvr>
                                        <p:cTn id="12" dur="1000" fill="hold"/>
                                        <p:tgtEl>
                                          <p:spTgt spid="17"/>
                                        </p:tgtEl>
                                        <p:attrNameLst>
                                          <p:attrName>ppt_h</p:attrName>
                                        </p:attrNameLst>
                                      </p:cBhvr>
                                      <p:tavLst>
                                        <p:tav tm="0">
                                          <p:val>
                                            <p:fltVal val="0"/>
                                          </p:val>
                                        </p:tav>
                                        <p:tav tm="100000">
                                          <p:val>
                                            <p:strVal val="#ppt_h"/>
                                          </p:val>
                                        </p:tav>
                                      </p:tavLst>
                                    </p:anim>
                                    <p:anim calcmode="lin" valueType="num">
                                      <p:cBhvr>
                                        <p:cTn id="13" dur="1000" fill="hold"/>
                                        <p:tgtEl>
                                          <p:spTgt spid="17"/>
                                        </p:tgtEl>
                                        <p:attrNameLst>
                                          <p:attrName>style.rotation</p:attrName>
                                        </p:attrNameLst>
                                      </p:cBhvr>
                                      <p:tavLst>
                                        <p:tav tm="0">
                                          <p:val>
                                            <p:fltVal val="90"/>
                                          </p:val>
                                        </p:tav>
                                        <p:tav tm="100000">
                                          <p:val>
                                            <p:fltVal val="0"/>
                                          </p:val>
                                        </p:tav>
                                      </p:tavLst>
                                    </p:anim>
                                    <p:animEffect transition="in" filter="fade">
                                      <p:cBhvr>
                                        <p:cTn id="14" dur="1000"/>
                                        <p:tgtEl>
                                          <p:spTgt spid="17"/>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5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50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25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0" fill="hold" display="0">
                  <p:stCondLst>
                    <p:cond delay="indefinite"/>
                  </p:stCondLst>
                  <p:endCondLst>
                    <p:cond evt="onStopAudio" delay="0">
                      <p:tgtEl>
                        <p:sldTgt/>
                      </p:tgtEl>
                    </p:cond>
                  </p:endCondLst>
                </p:cTn>
                <p:tgtEl>
                  <p:spTgt spid="81"/>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5615E-021B-C7B6-081C-01057597D381}"/>
              </a:ext>
            </a:extLst>
          </p:cNvPr>
          <p:cNvSpPr>
            <a:spLocks noGrp="1"/>
          </p:cNvSpPr>
          <p:nvPr>
            <p:ph type="title"/>
          </p:nvPr>
        </p:nvSpPr>
        <p:spPr/>
        <p:txBody>
          <a:bodyPr/>
          <a:lstStyle/>
          <a:p>
            <a:r>
              <a:rPr lang="en-US" dirty="0"/>
              <a:t>Healthcare Synergies</a:t>
            </a:r>
          </a:p>
        </p:txBody>
      </p:sp>
      <p:sp>
        <p:nvSpPr>
          <p:cNvPr id="4" name="Text Placeholder 3">
            <a:extLst>
              <a:ext uri="{FF2B5EF4-FFF2-40B4-BE49-F238E27FC236}">
                <a16:creationId xmlns:a16="http://schemas.microsoft.com/office/drawing/2014/main" id="{0536B093-FED3-3C45-5832-D30962EE144C}"/>
              </a:ext>
            </a:extLst>
          </p:cNvPr>
          <p:cNvSpPr>
            <a:spLocks noGrp="1"/>
          </p:cNvSpPr>
          <p:nvPr>
            <p:ph type="body" sz="half" idx="2"/>
          </p:nvPr>
        </p:nvSpPr>
        <p:spPr>
          <a:xfrm>
            <a:off x="839789" y="2057400"/>
            <a:ext cx="4197032" cy="3337560"/>
          </a:xfrm>
        </p:spPr>
        <p:txBody>
          <a:bodyPr>
            <a:normAutofit fontScale="92500" lnSpcReduction="10000"/>
          </a:bodyPr>
          <a:lstStyle/>
          <a:p>
            <a:pPr marL="285750" indent="-285750">
              <a:buFont typeface="Arial" panose="020B0604020202020204" pitchFamily="34" charset="0"/>
              <a:buChar char="•"/>
            </a:pPr>
            <a:r>
              <a:rPr lang="en-US" dirty="0"/>
              <a:t>Best Buy – Atrium Health</a:t>
            </a:r>
          </a:p>
          <a:p>
            <a:pPr marL="285750" indent="-285750">
              <a:buFont typeface="Arial" panose="020B0604020202020204" pitchFamily="34" charset="0"/>
              <a:buChar char="•"/>
            </a:pPr>
            <a:r>
              <a:rPr lang="en-US" dirty="0"/>
              <a:t>Humana – </a:t>
            </a:r>
            <a:r>
              <a:rPr lang="en-US" dirty="0" err="1"/>
              <a:t>CenterWell</a:t>
            </a:r>
            <a:endParaRPr lang="en-US" dirty="0"/>
          </a:p>
          <a:p>
            <a:pPr marL="285750" indent="-285750">
              <a:buFont typeface="Arial" panose="020B0604020202020204" pitchFamily="34" charset="0"/>
              <a:buChar char="•"/>
            </a:pPr>
            <a:r>
              <a:rPr lang="en-US" dirty="0"/>
              <a:t>United Health Group – Optum and Change Health</a:t>
            </a:r>
          </a:p>
          <a:p>
            <a:pPr marL="285750" indent="-285750">
              <a:buFont typeface="Arial" panose="020B0604020202020204" pitchFamily="34" charset="0"/>
              <a:buChar char="•"/>
            </a:pPr>
            <a:r>
              <a:rPr lang="en-US" dirty="0"/>
              <a:t>CVS – Aetna</a:t>
            </a:r>
          </a:p>
          <a:p>
            <a:pPr marL="285750" indent="-285750">
              <a:buFont typeface="Arial" panose="020B0604020202020204" pitchFamily="34" charset="0"/>
              <a:buChar char="•"/>
            </a:pPr>
            <a:r>
              <a:rPr lang="en-US" dirty="0"/>
              <a:t>Uber – Uber Health</a:t>
            </a:r>
          </a:p>
          <a:p>
            <a:pPr marL="285750" indent="-285750">
              <a:buFont typeface="Arial" panose="020B0604020202020204" pitchFamily="34" charset="0"/>
              <a:buChar char="•"/>
            </a:pPr>
            <a:r>
              <a:rPr lang="en-US" dirty="0"/>
              <a:t>Amazon – Amazon Pharmacy &amp; Amazon Care</a:t>
            </a:r>
          </a:p>
          <a:p>
            <a:pPr marL="285750" indent="-285750">
              <a:buFont typeface="Arial" panose="020B0604020202020204" pitchFamily="34" charset="0"/>
              <a:buChar char="•"/>
            </a:pPr>
            <a:r>
              <a:rPr lang="en-US" dirty="0"/>
              <a:t>Walgreens – </a:t>
            </a:r>
            <a:r>
              <a:rPr lang="en-US" dirty="0" err="1"/>
              <a:t>VillageMD</a:t>
            </a:r>
            <a:r>
              <a:rPr lang="en-US" dirty="0"/>
              <a:t>-Summit Health-</a:t>
            </a:r>
            <a:r>
              <a:rPr lang="en-US" dirty="0" err="1"/>
              <a:t>CityMD</a:t>
            </a:r>
            <a:r>
              <a:rPr lang="en-US" dirty="0"/>
              <a:t>, &amp; </a:t>
            </a:r>
            <a:r>
              <a:rPr lang="en-US" dirty="0" err="1"/>
              <a:t>CareCentrix</a:t>
            </a:r>
            <a:endParaRPr lang="en-US" dirty="0"/>
          </a:p>
          <a:p>
            <a:pPr marL="285750" indent="-285750">
              <a:buFont typeface="Arial" panose="020B0604020202020204" pitchFamily="34" charset="0"/>
              <a:buChar char="•"/>
            </a:pPr>
            <a:r>
              <a:rPr lang="en-US" dirty="0"/>
              <a:t>Walmart – Healthcare Services Super Center</a:t>
            </a:r>
          </a:p>
          <a:p>
            <a:pPr marL="285750" indent="-285750">
              <a:buFont typeface="Arial" panose="020B0604020202020204" pitchFamily="34" charset="0"/>
              <a:buChar char="•"/>
            </a:pPr>
            <a:r>
              <a:rPr lang="en-US" dirty="0"/>
              <a:t>Local Hospital Brands – Venture Capitalist and other hospital brand partnerships</a:t>
            </a:r>
          </a:p>
          <a:p>
            <a:endParaRPr lang="en-US" dirty="0"/>
          </a:p>
        </p:txBody>
      </p:sp>
      <p:pic>
        <p:nvPicPr>
          <p:cNvPr id="12" name="Content Placeholder 11">
            <a:extLst>
              <a:ext uri="{FF2B5EF4-FFF2-40B4-BE49-F238E27FC236}">
                <a16:creationId xmlns:a16="http://schemas.microsoft.com/office/drawing/2014/main" id="{8CBA5957-C1DA-3DA5-38BF-5D0811FF7AB9}"/>
              </a:ext>
            </a:extLst>
          </p:cNvPr>
          <p:cNvPicPr>
            <a:picLocks noGrp="1" noChangeAspect="1"/>
          </p:cNvPicPr>
          <p:nvPr>
            <p:ph idx="1"/>
          </p:nvPr>
        </p:nvPicPr>
        <p:blipFill>
          <a:blip r:embed="rId5"/>
          <a:stretch>
            <a:fillRect/>
          </a:stretch>
        </p:blipFill>
        <p:spPr>
          <a:xfrm>
            <a:off x="6095999" y="1097280"/>
            <a:ext cx="4444751" cy="2704280"/>
          </a:xfrm>
        </p:spPr>
      </p:pic>
      <p:pic>
        <p:nvPicPr>
          <p:cNvPr id="14" name="Picture 13">
            <a:extLst>
              <a:ext uri="{FF2B5EF4-FFF2-40B4-BE49-F238E27FC236}">
                <a16:creationId xmlns:a16="http://schemas.microsoft.com/office/drawing/2014/main" id="{3FAA652A-C26B-0D66-B71E-AE5B4C9DC0EC}"/>
              </a:ext>
            </a:extLst>
          </p:cNvPr>
          <p:cNvPicPr>
            <a:picLocks noChangeAspect="1"/>
          </p:cNvPicPr>
          <p:nvPr/>
        </p:nvPicPr>
        <p:blipFill>
          <a:blip r:embed="rId6"/>
          <a:stretch>
            <a:fillRect/>
          </a:stretch>
        </p:blipFill>
        <p:spPr>
          <a:xfrm>
            <a:off x="6096000" y="3754840"/>
            <a:ext cx="2199954" cy="2460164"/>
          </a:xfrm>
          <a:prstGeom prst="rect">
            <a:avLst/>
          </a:prstGeom>
        </p:spPr>
      </p:pic>
      <p:pic>
        <p:nvPicPr>
          <p:cNvPr id="18" name="Picture 17">
            <a:extLst>
              <a:ext uri="{FF2B5EF4-FFF2-40B4-BE49-F238E27FC236}">
                <a16:creationId xmlns:a16="http://schemas.microsoft.com/office/drawing/2014/main" id="{7C9AB877-5106-7981-6DB9-2F3F21184AF6}"/>
              </a:ext>
            </a:extLst>
          </p:cNvPr>
          <p:cNvPicPr>
            <a:picLocks noChangeAspect="1"/>
          </p:cNvPicPr>
          <p:nvPr/>
        </p:nvPicPr>
        <p:blipFill>
          <a:blip r:embed="rId7"/>
          <a:stretch>
            <a:fillRect/>
          </a:stretch>
        </p:blipFill>
        <p:spPr>
          <a:xfrm>
            <a:off x="8295955" y="3754840"/>
            <a:ext cx="2244796" cy="2460164"/>
          </a:xfrm>
          <a:prstGeom prst="rect">
            <a:avLst/>
          </a:prstGeom>
        </p:spPr>
      </p:pic>
      <p:pic>
        <p:nvPicPr>
          <p:cNvPr id="85" name="Audio 84">
            <a:hlinkClick r:id="" action="ppaction://media"/>
            <a:extLst>
              <a:ext uri="{FF2B5EF4-FFF2-40B4-BE49-F238E27FC236}">
                <a16:creationId xmlns:a16="http://schemas.microsoft.com/office/drawing/2014/main" id="{2A68B062-5924-977E-2951-6669C0446E63}"/>
              </a:ext>
            </a:extLst>
          </p:cNvPr>
          <p:cNvPicPr>
            <a:picLocks noChangeAspect="1"/>
          </p:cNvPicPr>
          <p:nvPr>
            <a:audioFile r:link="rId2"/>
            <p:extLst>
              <p:ext uri="{DAA4B4D4-6D71-4841-9C94-3DE7FCFB9230}">
                <p14:media xmlns:p14="http://schemas.microsoft.com/office/powerpoint/2010/main" r:embed="rId1"/>
              </p:ext>
            </p:extLst>
          </p:nvPr>
        </p:nvPicPr>
        <p:blipFill>
          <a:blip r:embed="rId8"/>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338130254"/>
      </p:ext>
    </p:extLst>
  </p:cSld>
  <p:clrMapOvr>
    <a:masterClrMapping/>
  </p:clrMapOvr>
  <mc:AlternateContent xmlns:mc="http://schemas.openxmlformats.org/markup-compatibility/2006" xmlns:p14="http://schemas.microsoft.com/office/powerpoint/2010/main">
    <mc:Choice Requires="p14">
      <p:transition spd="slow" p14:dur="2000" advTm="49693"/>
    </mc:Choice>
    <mc:Fallback xmlns="">
      <p:transition spd="slow" advTm="496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5"/>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3B649-7F0A-010C-2BBD-7DED0E62F13A}"/>
              </a:ext>
            </a:extLst>
          </p:cNvPr>
          <p:cNvSpPr>
            <a:spLocks noGrp="1"/>
          </p:cNvSpPr>
          <p:nvPr>
            <p:ph type="title"/>
          </p:nvPr>
        </p:nvSpPr>
        <p:spPr/>
        <p:txBody>
          <a:bodyPr/>
          <a:lstStyle/>
          <a:p>
            <a:r>
              <a:rPr lang="en-US" dirty="0"/>
              <a:t>Who Delivers Care?</a:t>
            </a:r>
          </a:p>
        </p:txBody>
      </p:sp>
      <p:pic>
        <p:nvPicPr>
          <p:cNvPr id="7" name="Content Placeholder 6">
            <a:extLst>
              <a:ext uri="{FF2B5EF4-FFF2-40B4-BE49-F238E27FC236}">
                <a16:creationId xmlns:a16="http://schemas.microsoft.com/office/drawing/2014/main" id="{2C5012DF-5A71-8119-78FE-B86782D56F51}"/>
              </a:ext>
            </a:extLst>
          </p:cNvPr>
          <p:cNvPicPr>
            <a:picLocks noGrp="1" noChangeAspect="1"/>
          </p:cNvPicPr>
          <p:nvPr>
            <p:ph idx="1"/>
          </p:nvPr>
        </p:nvPicPr>
        <p:blipFill>
          <a:blip r:embed="rId5"/>
          <a:stretch>
            <a:fillRect/>
          </a:stretch>
        </p:blipFill>
        <p:spPr>
          <a:xfrm>
            <a:off x="5457151" y="1121776"/>
            <a:ext cx="5106113" cy="3858163"/>
          </a:xfrm>
        </p:spPr>
      </p:pic>
      <p:sp>
        <p:nvSpPr>
          <p:cNvPr id="4" name="Text Placeholder 3">
            <a:extLst>
              <a:ext uri="{FF2B5EF4-FFF2-40B4-BE49-F238E27FC236}">
                <a16:creationId xmlns:a16="http://schemas.microsoft.com/office/drawing/2014/main" id="{6EE266A9-D40E-6008-1720-389CC129BD1C}"/>
              </a:ext>
            </a:extLst>
          </p:cNvPr>
          <p:cNvSpPr>
            <a:spLocks noGrp="1"/>
          </p:cNvSpPr>
          <p:nvPr>
            <p:ph type="body" sz="half" idx="2"/>
          </p:nvPr>
        </p:nvSpPr>
        <p:spPr>
          <a:xfrm>
            <a:off x="839788" y="2278380"/>
            <a:ext cx="3932237" cy="3590608"/>
          </a:xfrm>
        </p:spPr>
        <p:txBody>
          <a:bodyPr/>
          <a:lstStyle/>
          <a:p>
            <a:pPr marL="285750" indent="-285750">
              <a:buFont typeface="Arial" panose="020B0604020202020204" pitchFamily="34" charset="0"/>
              <a:buChar char="•"/>
            </a:pPr>
            <a:r>
              <a:rPr lang="en-US" dirty="0"/>
              <a:t>Healthcare disrupter that can provide support for all wellness needs with whole person health mindset.</a:t>
            </a:r>
          </a:p>
          <a:p>
            <a:pPr marL="285750" indent="-285750">
              <a:buFont typeface="Arial" panose="020B0604020202020204" pitchFamily="34" charset="0"/>
              <a:buChar char="•"/>
            </a:pPr>
            <a:r>
              <a:rPr lang="en-US" dirty="0"/>
              <a:t>Systems that reframe the health industry from sick-care to healthcare. </a:t>
            </a:r>
          </a:p>
          <a:p>
            <a:pPr marL="285750" indent="-285750">
              <a:buFont typeface="Arial" panose="020B0604020202020204" pitchFamily="34" charset="0"/>
              <a:buChar char="•"/>
            </a:pPr>
            <a:r>
              <a:rPr lang="en-US" dirty="0"/>
              <a:t>Systems that are focused on the customers needs and has a healthy feedback loop that will elevate healthcare outcomes and inequities</a:t>
            </a:r>
          </a:p>
          <a:p>
            <a:endParaRPr lang="en-US" dirty="0"/>
          </a:p>
        </p:txBody>
      </p:sp>
      <p:pic>
        <p:nvPicPr>
          <p:cNvPr id="57" name="Audio 56">
            <a:hlinkClick r:id="" action="ppaction://media"/>
            <a:extLst>
              <a:ext uri="{FF2B5EF4-FFF2-40B4-BE49-F238E27FC236}">
                <a16:creationId xmlns:a16="http://schemas.microsoft.com/office/drawing/2014/main" id="{473E7BD4-954C-42B7-1F42-275278D21FAF}"/>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416347147"/>
      </p:ext>
    </p:extLst>
  </p:cSld>
  <p:clrMapOvr>
    <a:masterClrMapping/>
  </p:clrMapOvr>
  <mc:AlternateContent xmlns:mc="http://schemas.openxmlformats.org/markup-compatibility/2006" xmlns:p14="http://schemas.microsoft.com/office/powerpoint/2010/main">
    <mc:Choice Requires="p14">
      <p:transition spd="slow" p14:dur="2000" advTm="54767"/>
    </mc:Choice>
    <mc:Fallback xmlns="">
      <p:transition spd="slow" advTm="5476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3AA14F9-7026-5172-D263-CAD851E65032}"/>
              </a:ext>
            </a:extLst>
          </p:cNvPr>
          <p:cNvPicPr>
            <a:picLocks noChangeAspect="1"/>
          </p:cNvPicPr>
          <p:nvPr/>
        </p:nvPicPr>
        <p:blipFill>
          <a:blip r:embed="rId6"/>
          <a:stretch>
            <a:fillRect/>
          </a:stretch>
        </p:blipFill>
        <p:spPr>
          <a:xfrm>
            <a:off x="5754071" y="987425"/>
            <a:ext cx="4962818" cy="4779010"/>
          </a:xfrm>
          <a:prstGeom prst="rect">
            <a:avLst/>
          </a:prstGeom>
        </p:spPr>
      </p:pic>
      <p:sp>
        <p:nvSpPr>
          <p:cNvPr id="2" name="Title 1">
            <a:extLst>
              <a:ext uri="{FF2B5EF4-FFF2-40B4-BE49-F238E27FC236}">
                <a16:creationId xmlns:a16="http://schemas.microsoft.com/office/drawing/2014/main" id="{31B585EA-F9CA-0A1A-0044-1B029B2F3079}"/>
              </a:ext>
            </a:extLst>
          </p:cNvPr>
          <p:cNvSpPr>
            <a:spLocks noGrp="1"/>
          </p:cNvSpPr>
          <p:nvPr>
            <p:ph type="title"/>
          </p:nvPr>
        </p:nvSpPr>
        <p:spPr/>
        <p:txBody>
          <a:bodyPr/>
          <a:lstStyle/>
          <a:p>
            <a:r>
              <a:rPr lang="en-US" dirty="0"/>
              <a:t>How to measure success?</a:t>
            </a:r>
          </a:p>
        </p:txBody>
      </p:sp>
      <p:pic>
        <p:nvPicPr>
          <p:cNvPr id="8" name="Content Placeholder 7">
            <a:extLst>
              <a:ext uri="{FF2B5EF4-FFF2-40B4-BE49-F238E27FC236}">
                <a16:creationId xmlns:a16="http://schemas.microsoft.com/office/drawing/2014/main" id="{608B9C65-3CD5-86DC-0E08-C47CFC361ED4}"/>
              </a:ext>
            </a:extLst>
          </p:cNvPr>
          <p:cNvPicPr>
            <a:picLocks noGrp="1" noChangeAspect="1"/>
          </p:cNvPicPr>
          <p:nvPr>
            <p:ph idx="1"/>
          </p:nvPr>
        </p:nvPicPr>
        <p:blipFill>
          <a:blip r:embed="rId7"/>
          <a:stretch>
            <a:fillRect/>
          </a:stretch>
        </p:blipFill>
        <p:spPr>
          <a:xfrm>
            <a:off x="5754071" y="987425"/>
            <a:ext cx="5030433" cy="4873625"/>
          </a:xfrm>
        </p:spPr>
      </p:pic>
      <p:sp>
        <p:nvSpPr>
          <p:cNvPr id="4" name="Text Placeholder 3">
            <a:extLst>
              <a:ext uri="{FF2B5EF4-FFF2-40B4-BE49-F238E27FC236}">
                <a16:creationId xmlns:a16="http://schemas.microsoft.com/office/drawing/2014/main" id="{E7FD42F6-1518-E25C-79D9-A4DA94072ABC}"/>
              </a:ext>
            </a:extLst>
          </p:cNvPr>
          <p:cNvSpPr>
            <a:spLocks noGrp="1"/>
          </p:cNvSpPr>
          <p:nvPr>
            <p:ph type="body" sz="half" idx="2"/>
          </p:nvPr>
        </p:nvSpPr>
        <p:spPr>
          <a:xfrm>
            <a:off x="839788" y="2057400"/>
            <a:ext cx="4372292" cy="4008120"/>
          </a:xfrm>
        </p:spPr>
        <p:txBody>
          <a:bodyPr/>
          <a:lstStyle/>
          <a:p>
            <a:pPr marL="342900" indent="-342900">
              <a:buFont typeface="+mj-lt"/>
              <a:buAutoNum type="arabicPeriod"/>
            </a:pPr>
            <a:endParaRPr lang="en-US" dirty="0"/>
          </a:p>
          <a:p>
            <a:pPr marL="342900" indent="-342900">
              <a:buFont typeface="+mj-lt"/>
              <a:buAutoNum type="arabicPeriod"/>
            </a:pPr>
            <a:r>
              <a:rPr lang="en-US" dirty="0"/>
              <a:t>Patient outcomes</a:t>
            </a:r>
          </a:p>
          <a:p>
            <a:pPr marL="342900" indent="-342900">
              <a:buFont typeface="+mj-lt"/>
              <a:buAutoNum type="arabicPeriod"/>
            </a:pPr>
            <a:r>
              <a:rPr lang="en-US" dirty="0"/>
              <a:t>Product Quality &amp; Customer Satisfaction</a:t>
            </a:r>
          </a:p>
          <a:p>
            <a:pPr marL="342900" indent="-342900">
              <a:buFont typeface="+mj-lt"/>
              <a:buAutoNum type="arabicPeriod"/>
            </a:pPr>
            <a:r>
              <a:rPr lang="en-US" dirty="0"/>
              <a:t>Patient Experience</a:t>
            </a:r>
          </a:p>
          <a:p>
            <a:pPr marL="342900" indent="-342900">
              <a:buFont typeface="+mj-lt"/>
              <a:buAutoNum type="arabicPeriod"/>
            </a:pPr>
            <a:r>
              <a:rPr lang="en-US" dirty="0"/>
              <a:t>Costs</a:t>
            </a:r>
          </a:p>
          <a:p>
            <a:pPr marL="342900" indent="-342900">
              <a:buFont typeface="+mj-lt"/>
              <a:buAutoNum type="arabicPeriod"/>
            </a:pPr>
            <a:endParaRPr lang="en-US" dirty="0"/>
          </a:p>
        </p:txBody>
      </p:sp>
      <p:pic>
        <p:nvPicPr>
          <p:cNvPr id="10" name="Picture 9">
            <a:extLst>
              <a:ext uri="{FF2B5EF4-FFF2-40B4-BE49-F238E27FC236}">
                <a16:creationId xmlns:a16="http://schemas.microsoft.com/office/drawing/2014/main" id="{AADC2A03-0A23-ED58-7B41-D0CF523C0ACE}"/>
              </a:ext>
            </a:extLst>
          </p:cNvPr>
          <p:cNvPicPr>
            <a:picLocks noChangeAspect="1"/>
          </p:cNvPicPr>
          <p:nvPr/>
        </p:nvPicPr>
        <p:blipFill>
          <a:blip r:embed="rId8"/>
          <a:stretch>
            <a:fillRect/>
          </a:stretch>
        </p:blipFill>
        <p:spPr>
          <a:xfrm>
            <a:off x="5752168" y="1408483"/>
            <a:ext cx="5220429" cy="3781953"/>
          </a:xfrm>
          <a:prstGeom prst="rect">
            <a:avLst/>
          </a:prstGeom>
        </p:spPr>
      </p:pic>
      <p:pic>
        <p:nvPicPr>
          <p:cNvPr id="23" name="Audio 22">
            <a:hlinkClick r:id="" action="ppaction://media"/>
            <a:extLst>
              <a:ext uri="{FF2B5EF4-FFF2-40B4-BE49-F238E27FC236}">
                <a16:creationId xmlns:a16="http://schemas.microsoft.com/office/drawing/2014/main" id="{280A1059-B677-A95C-3EB1-61B491BAB204}"/>
              </a:ext>
            </a:extLst>
          </p:cNvPr>
          <p:cNvPicPr>
            <a:picLocks noChangeAspect="1"/>
          </p:cNvPicPr>
          <p:nvPr>
            <a:audioFile r:link="rId3"/>
            <p:extLst>
              <p:ext uri="{DAA4B4D4-6D71-4841-9C94-3DE7FCFB9230}">
                <p14:media xmlns:p14="http://schemas.microsoft.com/office/powerpoint/2010/main" r:embed="rId2"/>
              </p:ext>
            </p:extLst>
          </p:nvPr>
        </p:nvPicPr>
        <p:blipFill>
          <a:blip r:embed="rId9"/>
          <a:srcRect l="-118750" t="-118750" r="-118750" b="-118750"/>
          <a:stretch>
            <a:fillRect/>
          </a:stretch>
        </p:blipFill>
        <p:spPr>
          <a:xfrm>
            <a:off x="10052304" y="4718304"/>
            <a:ext cx="2057400" cy="2057400"/>
          </a:xfrm>
          <a:prstGeom prst="ellipse">
            <a:avLst/>
          </a:prstGeom>
        </p:spPr>
      </p:pic>
    </p:spTree>
    <p:custDataLst>
      <p:tags r:id="rId1"/>
    </p:custDataLst>
    <p:extLst>
      <p:ext uri="{BB962C8B-B14F-4D97-AF65-F5344CB8AC3E}">
        <p14:creationId xmlns:p14="http://schemas.microsoft.com/office/powerpoint/2010/main" val="308228700"/>
      </p:ext>
    </p:extLst>
  </p:cSld>
  <p:clrMapOvr>
    <a:masterClrMapping/>
  </p:clrMapOvr>
  <mc:AlternateContent xmlns:mc="http://schemas.openxmlformats.org/markup-compatibility/2006" xmlns:p14="http://schemas.microsoft.com/office/powerpoint/2010/main">
    <mc:Choice Requires="p14">
      <p:transition spd="slow" p14:dur="2000" advTm="43541"/>
    </mc:Choice>
    <mc:Fallback xmlns="">
      <p:transition spd="slow" advTm="4354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par>
                    <p:cTn id="7" fill="hold">
                      <p:stCondLst>
                        <p:cond delay="indefinite"/>
                      </p:stCondLst>
                      <p:childTnLst>
                        <p:par>
                          <p:cTn id="8" fill="hold">
                            <p:stCondLst>
                              <p:cond delay="0"/>
                            </p:stCondLst>
                            <p:childTnLst>
                              <p:par>
                                <p:cTn id="9" presetID="31" presetClass="entr" presetSubtype="0" fill="hold" nodeType="clickEffect">
                                  <p:stCondLst>
                                    <p:cond delay="750"/>
                                  </p:stCondLst>
                                  <p:childTnLst>
                                    <p:set>
                                      <p:cBhvr>
                                        <p:cTn id="10" dur="1" fill="hold">
                                          <p:stCondLst>
                                            <p:cond delay="0"/>
                                          </p:stCondLst>
                                        </p:cTn>
                                        <p:tgtEl>
                                          <p:spTgt spid="8"/>
                                        </p:tgtEl>
                                        <p:attrNameLst>
                                          <p:attrName>style.visibility</p:attrName>
                                        </p:attrNameLst>
                                      </p:cBhvr>
                                      <p:to>
                                        <p:strVal val="visible"/>
                                      </p:to>
                                    </p:set>
                                    <p:anim calcmode="lin" valueType="num">
                                      <p:cBhvr>
                                        <p:cTn id="11" dur="1000" fill="hold"/>
                                        <p:tgtEl>
                                          <p:spTgt spid="8"/>
                                        </p:tgtEl>
                                        <p:attrNameLst>
                                          <p:attrName>ppt_w</p:attrName>
                                        </p:attrNameLst>
                                      </p:cBhvr>
                                      <p:tavLst>
                                        <p:tav tm="0">
                                          <p:val>
                                            <p:fltVal val="0"/>
                                          </p:val>
                                        </p:tav>
                                        <p:tav tm="100000">
                                          <p:val>
                                            <p:strVal val="#ppt_w"/>
                                          </p:val>
                                        </p:tav>
                                      </p:tavLst>
                                    </p:anim>
                                    <p:anim calcmode="lin" valueType="num">
                                      <p:cBhvr>
                                        <p:cTn id="12" dur="1000" fill="hold"/>
                                        <p:tgtEl>
                                          <p:spTgt spid="8"/>
                                        </p:tgtEl>
                                        <p:attrNameLst>
                                          <p:attrName>ppt_h</p:attrName>
                                        </p:attrNameLst>
                                      </p:cBhvr>
                                      <p:tavLst>
                                        <p:tav tm="0">
                                          <p:val>
                                            <p:fltVal val="0"/>
                                          </p:val>
                                        </p:tav>
                                        <p:tav tm="100000">
                                          <p:val>
                                            <p:strVal val="#ppt_h"/>
                                          </p:val>
                                        </p:tav>
                                      </p:tavLst>
                                    </p:anim>
                                    <p:anim calcmode="lin" valueType="num">
                                      <p:cBhvr>
                                        <p:cTn id="13" dur="1000" fill="hold"/>
                                        <p:tgtEl>
                                          <p:spTgt spid="8"/>
                                        </p:tgtEl>
                                        <p:attrNameLst>
                                          <p:attrName>style.rotation</p:attrName>
                                        </p:attrNameLst>
                                      </p:cBhvr>
                                      <p:tavLst>
                                        <p:tav tm="0">
                                          <p:val>
                                            <p:fltVal val="90"/>
                                          </p:val>
                                        </p:tav>
                                        <p:tav tm="100000">
                                          <p:val>
                                            <p:fltVal val="0"/>
                                          </p:val>
                                        </p:tav>
                                      </p:tavLst>
                                    </p:anim>
                                    <p:animEffect transition="in" filter="fade">
                                      <p:cBhvr>
                                        <p:cTn id="14" dur="10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nodeType="clickEffect">
                                  <p:stCondLst>
                                    <p:cond delay="500"/>
                                  </p:stCondLst>
                                  <p:childTnLst>
                                    <p:set>
                                      <p:cBhvr>
                                        <p:cTn id="18" dur="1" fill="hold">
                                          <p:stCondLst>
                                            <p:cond delay="0"/>
                                          </p:stCondLst>
                                        </p:cTn>
                                        <p:tgtEl>
                                          <p:spTgt spid="10"/>
                                        </p:tgtEl>
                                        <p:attrNameLst>
                                          <p:attrName>style.visibility</p:attrName>
                                        </p:attrNameLst>
                                      </p:cBhvr>
                                      <p:to>
                                        <p:strVal val="visible"/>
                                      </p:to>
                                    </p:set>
                                    <p:animEffect transition="in" filter="wheel(1)">
                                      <p:cBhvr>
                                        <p:cTn id="19"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0" fill="hold" display="0">
                  <p:stCondLst>
                    <p:cond delay="indefinite"/>
                  </p:stCondLst>
                  <p:endCondLst>
                    <p:cond evt="onStopAudio" delay="0">
                      <p:tgtEl>
                        <p:sldTgt/>
                      </p:tgtEl>
                    </p:cond>
                  </p:endCondLst>
                </p:cTn>
                <p:tgtEl>
                  <p:spTgt spid="2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AEAF8-8342-E743-CAD1-7A56CDF24D49}"/>
              </a:ext>
            </a:extLst>
          </p:cNvPr>
          <p:cNvSpPr>
            <a:spLocks noGrp="1"/>
          </p:cNvSpPr>
          <p:nvPr>
            <p:ph type="ctrTitle"/>
          </p:nvPr>
        </p:nvSpPr>
        <p:spPr/>
        <p:txBody>
          <a:bodyPr/>
          <a:lstStyle/>
          <a:p>
            <a:r>
              <a:rPr lang="en-US" dirty="0"/>
              <a:t>References</a:t>
            </a:r>
          </a:p>
        </p:txBody>
      </p:sp>
      <p:sp>
        <p:nvSpPr>
          <p:cNvPr id="4" name="Text Placeholder 3">
            <a:extLst>
              <a:ext uri="{FF2B5EF4-FFF2-40B4-BE49-F238E27FC236}">
                <a16:creationId xmlns:a16="http://schemas.microsoft.com/office/drawing/2014/main" id="{6EC58B35-5309-3461-10DF-94D5F21A10CC}"/>
              </a:ext>
            </a:extLst>
          </p:cNvPr>
          <p:cNvSpPr>
            <a:spLocks noGrp="1"/>
          </p:cNvSpPr>
          <p:nvPr>
            <p:ph type="subTitle" idx="1"/>
          </p:nvPr>
        </p:nvSpPr>
        <p:spPr/>
        <p:txBody>
          <a:bodyPr>
            <a:normAutofit/>
          </a:bodyPr>
          <a:lstStyle/>
          <a:p>
            <a:pPr marL="228600" indent="-228600" algn="l">
              <a:buFont typeface="+mj-lt"/>
              <a:buAutoNum type="arabicPeriod"/>
            </a:pPr>
            <a:r>
              <a:rPr lang="en-US" sz="1200" dirty="0"/>
              <a:t>Beyond the Walls: Megatrends, Movements, and Market Disruptors Transforming American Healthcare. Neuwirth ZE. </a:t>
            </a:r>
            <a:r>
              <a:rPr lang="en-US" sz="1200" i="1" dirty="0"/>
              <a:t>Beyond the Walls: Megatrends, Movements, and Market Disruptors Transforming American Healthcare</a:t>
            </a:r>
            <a:r>
              <a:rPr lang="en-US" sz="1200" dirty="0"/>
              <a:t>. Advantage Media Group; 2023.</a:t>
            </a:r>
          </a:p>
          <a:p>
            <a:pPr marL="228600" indent="-228600" algn="l">
              <a:buFont typeface="+mj-lt"/>
              <a:buAutoNum type="arabicPeriod"/>
            </a:pPr>
            <a:r>
              <a:rPr lang="en-US" sz="1050" b="0" i="0" dirty="0">
                <a:solidFill>
                  <a:srgbClr val="202122"/>
                </a:solidFill>
                <a:effectLst/>
                <a:latin typeface="Lato" panose="020F0502020204030203" pitchFamily="34" charset="0"/>
              </a:rPr>
              <a:t>Craig KJT, Fusco N, </a:t>
            </a:r>
            <a:r>
              <a:rPr lang="en-US" sz="1050" b="0" i="0" dirty="0" err="1">
                <a:solidFill>
                  <a:srgbClr val="202122"/>
                </a:solidFill>
                <a:effectLst/>
                <a:latin typeface="Lato" panose="020F0502020204030203" pitchFamily="34" charset="0"/>
              </a:rPr>
              <a:t>Gunnarsdottir</a:t>
            </a:r>
            <a:r>
              <a:rPr lang="en-US" sz="1050" b="0" i="0" dirty="0">
                <a:solidFill>
                  <a:srgbClr val="202122"/>
                </a:solidFill>
                <a:effectLst/>
                <a:latin typeface="Lato" panose="020F0502020204030203" pitchFamily="34" charset="0"/>
              </a:rPr>
              <a:t> T, Chamberland L, Snowdon J, </a:t>
            </a:r>
            <a:r>
              <a:rPr lang="en-US" sz="1050" b="0" i="0" dirty="0" err="1">
                <a:solidFill>
                  <a:srgbClr val="202122"/>
                </a:solidFill>
                <a:effectLst/>
                <a:latin typeface="Lato" panose="020F0502020204030203" pitchFamily="34" charset="0"/>
              </a:rPr>
              <a:t>Kassler</a:t>
            </a:r>
            <a:r>
              <a:rPr lang="en-US" sz="1050" b="0" i="0" dirty="0">
                <a:solidFill>
                  <a:srgbClr val="202122"/>
                </a:solidFill>
                <a:effectLst/>
                <a:latin typeface="Lato" panose="020F0502020204030203" pitchFamily="34" charset="0"/>
              </a:rPr>
              <a:t> W. (2021). </a:t>
            </a:r>
            <a:r>
              <a:rPr lang="en-US" sz="1050" b="0" i="0" u="none" strike="noStrike" dirty="0">
                <a:solidFill>
                  <a:srgbClr val="006FBF"/>
                </a:solidFill>
                <a:effectLst/>
                <a:latin typeface="Lato" panose="020F0502020204030203" pitchFamily="34" charset="0"/>
                <a:hlinkClick r:id="rId5"/>
              </a:rPr>
              <a:t>Leveraging data and digital health technologies to assess and impact social determinants of health (</a:t>
            </a:r>
            <a:r>
              <a:rPr lang="en-US" sz="1050" b="0" i="0" u="none" strike="noStrike" dirty="0" err="1">
                <a:solidFill>
                  <a:srgbClr val="006FBF"/>
                </a:solidFill>
                <a:effectLst/>
                <a:latin typeface="Lato" panose="020F0502020204030203" pitchFamily="34" charset="0"/>
                <a:hlinkClick r:id="rId5"/>
              </a:rPr>
              <a:t>SDoH</a:t>
            </a:r>
            <a:r>
              <a:rPr lang="en-US" sz="1050" b="0" i="0" u="none" strike="noStrike" dirty="0">
                <a:solidFill>
                  <a:srgbClr val="006FBF"/>
                </a:solidFill>
                <a:effectLst/>
                <a:latin typeface="Lato" panose="020F0502020204030203" pitchFamily="34" charset="0"/>
                <a:hlinkClick r:id="rId5"/>
              </a:rPr>
              <a:t>)</a:t>
            </a:r>
            <a:r>
              <a:rPr lang="en-US" sz="1050" b="0" i="0" dirty="0">
                <a:solidFill>
                  <a:srgbClr val="202122"/>
                </a:solidFill>
                <a:effectLst/>
                <a:latin typeface="Lato" panose="020F0502020204030203" pitchFamily="34" charset="0"/>
              </a:rPr>
              <a:t>. </a:t>
            </a:r>
            <a:r>
              <a:rPr lang="en-US" sz="1050" b="0" i="1" dirty="0">
                <a:solidFill>
                  <a:srgbClr val="202122"/>
                </a:solidFill>
                <a:effectLst/>
                <a:latin typeface="Lato" panose="020F0502020204030203" pitchFamily="34" charset="0"/>
              </a:rPr>
              <a:t>Online Journal of</a:t>
            </a:r>
            <a:endParaRPr lang="en-US" sz="1200" b="0" i="1" dirty="0">
              <a:solidFill>
                <a:srgbClr val="202122"/>
              </a:solidFill>
              <a:effectLst/>
              <a:latin typeface="Lato" panose="020F0502020204030203" pitchFamily="34" charset="0"/>
            </a:endParaRPr>
          </a:p>
          <a:p>
            <a:pPr marL="228600" indent="-228600" algn="l">
              <a:buFont typeface="+mj-lt"/>
              <a:buAutoNum type="arabicPeriod"/>
            </a:pPr>
            <a:r>
              <a:rPr lang="en-US" sz="1050" b="0" i="0" dirty="0">
                <a:solidFill>
                  <a:srgbClr val="202122"/>
                </a:solidFill>
                <a:effectLst/>
                <a:latin typeface="Lato" panose="020F0502020204030203" pitchFamily="34" charset="0"/>
              </a:rPr>
              <a:t>Sieck, C. J., </a:t>
            </a:r>
            <a:r>
              <a:rPr lang="en-US" sz="1050" b="0" i="0" dirty="0" err="1">
                <a:solidFill>
                  <a:srgbClr val="202122"/>
                </a:solidFill>
                <a:effectLst/>
                <a:latin typeface="Lato" panose="020F0502020204030203" pitchFamily="34" charset="0"/>
              </a:rPr>
              <a:t>Sheon</a:t>
            </a:r>
            <a:r>
              <a:rPr lang="en-US" sz="1050" b="0" i="0" dirty="0">
                <a:solidFill>
                  <a:srgbClr val="202122"/>
                </a:solidFill>
                <a:effectLst/>
                <a:latin typeface="Lato" panose="020F0502020204030203" pitchFamily="34" charset="0"/>
              </a:rPr>
              <a:t>, A., </a:t>
            </a:r>
            <a:r>
              <a:rPr lang="en-US" sz="1050" b="0" i="0" dirty="0" err="1">
                <a:solidFill>
                  <a:srgbClr val="202122"/>
                </a:solidFill>
                <a:effectLst/>
                <a:latin typeface="Lato" panose="020F0502020204030203" pitchFamily="34" charset="0"/>
              </a:rPr>
              <a:t>Ancker</a:t>
            </a:r>
            <a:r>
              <a:rPr lang="en-US" sz="1050" b="0" i="0" dirty="0">
                <a:solidFill>
                  <a:srgbClr val="202122"/>
                </a:solidFill>
                <a:effectLst/>
                <a:latin typeface="Lato" panose="020F0502020204030203" pitchFamily="34" charset="0"/>
              </a:rPr>
              <a:t>, J. S., </a:t>
            </a:r>
            <a:r>
              <a:rPr lang="en-US" sz="1050" b="0" i="0" dirty="0" err="1">
                <a:solidFill>
                  <a:srgbClr val="202122"/>
                </a:solidFill>
                <a:effectLst/>
                <a:latin typeface="Lato" panose="020F0502020204030203" pitchFamily="34" charset="0"/>
              </a:rPr>
              <a:t>Castek</a:t>
            </a:r>
            <a:r>
              <a:rPr lang="en-US" sz="1050" b="0" i="0" dirty="0">
                <a:solidFill>
                  <a:srgbClr val="202122"/>
                </a:solidFill>
                <a:effectLst/>
                <a:latin typeface="Lato" panose="020F0502020204030203" pitchFamily="34" charset="0"/>
              </a:rPr>
              <a:t>, J., Callahan, B., &amp; </a:t>
            </a:r>
            <a:r>
              <a:rPr lang="en-US" sz="1050" b="0" i="0" dirty="0" err="1">
                <a:solidFill>
                  <a:srgbClr val="202122"/>
                </a:solidFill>
                <a:effectLst/>
                <a:latin typeface="Lato" panose="020F0502020204030203" pitchFamily="34" charset="0"/>
              </a:rPr>
              <a:t>Siefer</a:t>
            </a:r>
            <a:r>
              <a:rPr lang="en-US" sz="1050" b="0" i="0" dirty="0">
                <a:solidFill>
                  <a:srgbClr val="202122"/>
                </a:solidFill>
                <a:effectLst/>
                <a:latin typeface="Lato" panose="020F0502020204030203" pitchFamily="34" charset="0"/>
              </a:rPr>
              <a:t>, A. (2021). </a:t>
            </a:r>
            <a:r>
              <a:rPr lang="en-US" sz="1050" b="0" i="0" u="none" strike="noStrike" dirty="0">
                <a:solidFill>
                  <a:srgbClr val="006FBF"/>
                </a:solidFill>
                <a:effectLst/>
                <a:latin typeface="Lato" panose="020F0502020204030203" pitchFamily="34" charset="0"/>
                <a:hlinkClick r:id="rId6"/>
              </a:rPr>
              <a:t>Digital inclusion as a social determinant of health</a:t>
            </a:r>
            <a:r>
              <a:rPr lang="en-US" sz="1050" b="0" i="0" dirty="0">
                <a:solidFill>
                  <a:srgbClr val="202122"/>
                </a:solidFill>
                <a:effectLst/>
                <a:latin typeface="Lato" panose="020F0502020204030203" pitchFamily="34" charset="0"/>
              </a:rPr>
              <a:t>. </a:t>
            </a:r>
            <a:r>
              <a:rPr lang="en-US" sz="1050" b="0" i="1" dirty="0">
                <a:solidFill>
                  <a:srgbClr val="202122"/>
                </a:solidFill>
                <a:effectLst/>
                <a:latin typeface="Lato" panose="020F0502020204030203" pitchFamily="34" charset="0"/>
              </a:rPr>
              <a:t>NPJ Digital Medicine, 4</a:t>
            </a:r>
            <a:r>
              <a:rPr lang="en-US" sz="1050" b="0" i="0" dirty="0">
                <a:solidFill>
                  <a:srgbClr val="202122"/>
                </a:solidFill>
                <a:effectLst/>
                <a:latin typeface="Lato" panose="020F0502020204030203" pitchFamily="34" charset="0"/>
              </a:rPr>
              <a:t>(1), 52.</a:t>
            </a:r>
          </a:p>
          <a:p>
            <a:pPr marL="228600" indent="-228600" algn="l">
              <a:buFont typeface="+mj-lt"/>
              <a:buAutoNum type="arabicPeriod"/>
            </a:pPr>
            <a:r>
              <a:rPr lang="en-US" sz="1050" b="0" i="0" dirty="0">
                <a:solidFill>
                  <a:srgbClr val="202122"/>
                </a:solidFill>
                <a:effectLst/>
                <a:latin typeface="Lato" panose="020F0502020204030203" pitchFamily="34" charset="0"/>
              </a:rPr>
              <a:t>Benjamin, GC. (2023). </a:t>
            </a:r>
            <a:r>
              <a:rPr lang="en-US" sz="1050" b="0" i="0" u="sng" dirty="0">
                <a:solidFill>
                  <a:srgbClr val="004489"/>
                </a:solidFill>
                <a:effectLst/>
                <a:latin typeface="Lato" panose="020F0502020204030203" pitchFamily="34" charset="0"/>
                <a:hlinkClick r:id="rId7"/>
              </a:rPr>
              <a:t>The future of public health: Ensuring an adequate infrastructure</a:t>
            </a:r>
            <a:r>
              <a:rPr lang="en-US" sz="1050" b="0" i="0" dirty="0">
                <a:solidFill>
                  <a:srgbClr val="202122"/>
                </a:solidFill>
                <a:effectLst/>
                <a:latin typeface="Lato" panose="020F0502020204030203" pitchFamily="34" charset="0"/>
              </a:rPr>
              <a:t>. </a:t>
            </a:r>
            <a:r>
              <a:rPr lang="en-US" sz="1050" b="0" i="1" dirty="0">
                <a:solidFill>
                  <a:srgbClr val="202122"/>
                </a:solidFill>
                <a:effectLst/>
                <a:latin typeface="Lato" panose="020F0502020204030203" pitchFamily="34" charset="0"/>
              </a:rPr>
              <a:t>The Milbank Quarterly, 101</a:t>
            </a:r>
            <a:r>
              <a:rPr lang="en-US" sz="1050" b="0" i="0" dirty="0">
                <a:solidFill>
                  <a:srgbClr val="202122"/>
                </a:solidFill>
                <a:effectLst/>
                <a:latin typeface="Lato" panose="020F0502020204030203" pitchFamily="34" charset="0"/>
              </a:rPr>
              <a:t>(S1), 637-652.</a:t>
            </a:r>
          </a:p>
          <a:p>
            <a:pPr marL="228600" indent="-228600" algn="l">
              <a:buFont typeface="+mj-lt"/>
              <a:buAutoNum type="arabicPeriod"/>
            </a:pPr>
            <a:endParaRPr lang="en-US" sz="1200" dirty="0"/>
          </a:p>
          <a:p>
            <a:pPr marL="228600" indent="-228600" algn="l">
              <a:buFont typeface="+mj-lt"/>
              <a:buAutoNum type="arabicPeriod"/>
            </a:pPr>
            <a:endParaRPr lang="en-US" sz="1200" dirty="0"/>
          </a:p>
        </p:txBody>
      </p:sp>
      <p:pic>
        <p:nvPicPr>
          <p:cNvPr id="25" name="Audio 24">
            <a:hlinkClick r:id="" action="ppaction://media"/>
            <a:extLst>
              <a:ext uri="{FF2B5EF4-FFF2-40B4-BE49-F238E27FC236}">
                <a16:creationId xmlns:a16="http://schemas.microsoft.com/office/drawing/2014/main" id="{5DAEFAFC-72B1-7A9A-7859-A9B334E8B4CB}"/>
              </a:ext>
            </a:extLst>
          </p:cNvPr>
          <p:cNvPicPr>
            <a:picLocks noChangeAspect="1"/>
          </p:cNvPicPr>
          <p:nvPr>
            <a:audioFile r:link="rId2"/>
            <p:extLst>
              <p:ext uri="{DAA4B4D4-6D71-4841-9C94-3DE7FCFB9230}">
                <p14:media xmlns:p14="http://schemas.microsoft.com/office/powerpoint/2010/main" r:embed="rId1"/>
              </p:ext>
            </p:extLst>
          </p:nvPr>
        </p:nvPicPr>
        <p:blipFill>
          <a:blip r:embed="rId8"/>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309413479"/>
      </p:ext>
    </p:extLst>
  </p:cSld>
  <p:clrMapOvr>
    <a:masterClrMapping/>
  </p:clrMapOvr>
  <mc:AlternateContent xmlns:mc="http://schemas.openxmlformats.org/markup-compatibility/2006" xmlns:p14="http://schemas.microsoft.com/office/powerpoint/2010/main">
    <mc:Choice Requires="p14">
      <p:transition spd="slow" p14:dur="2000" advTm="22340"/>
    </mc:Choice>
    <mc:Fallback xmlns="">
      <p:transition spd="slow" advTm="22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5"/>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3.3|12.8|12.1"/>
</p:tagLst>
</file>

<file path=ppt/tags/tag2.xml><?xml version="1.0" encoding="utf-8"?>
<p:tagLst xmlns:a="http://schemas.openxmlformats.org/drawingml/2006/main" xmlns:r="http://schemas.openxmlformats.org/officeDocument/2006/relationships" xmlns:p="http://schemas.openxmlformats.org/presentationml/2006/main">
  <p:tag name="TIMING" val="|21.4|14.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492</TotalTime>
  <Words>1699</Words>
  <Application>Microsoft Office PowerPoint</Application>
  <PresentationFormat>Widescreen</PresentationFormat>
  <Paragraphs>170</Paragraphs>
  <Slides>9</Slides>
  <Notes>9</Notes>
  <HiddenSlides>0</HiddenSlides>
  <MMClips>9</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Aptos Display</vt:lpstr>
      <vt:lpstr>Arial</vt:lpstr>
      <vt:lpstr>Calibri</vt:lpstr>
      <vt:lpstr>Courier New</vt:lpstr>
      <vt:lpstr>Lato</vt:lpstr>
      <vt:lpstr>Office Theme</vt:lpstr>
      <vt:lpstr>Reframing Healthcare</vt:lpstr>
      <vt:lpstr>Legacy Framework</vt:lpstr>
      <vt:lpstr>Eliminating Barriers</vt:lpstr>
      <vt:lpstr>Whole Person Humanized Health</vt:lpstr>
      <vt:lpstr>Where to find Care?</vt:lpstr>
      <vt:lpstr>Healthcare Synergies</vt:lpstr>
      <vt:lpstr>Who Delivers Care?</vt:lpstr>
      <vt:lpstr>How to measure success?</vt:lpstr>
      <vt:lpstr>References</vt:lpstr>
    </vt:vector>
  </TitlesOfParts>
  <Company>Catholic Health Services - LI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 Yzut (Yatza)</dc:creator>
  <cp:lastModifiedBy>Lo, Yzut (Yatza)</cp:lastModifiedBy>
  <cp:revision>9</cp:revision>
  <dcterms:created xsi:type="dcterms:W3CDTF">2026-06-26T08:37:28Z</dcterms:created>
  <dcterms:modified xsi:type="dcterms:W3CDTF">2026-06-27T19:25:35Z</dcterms:modified>
</cp:coreProperties>
</file>