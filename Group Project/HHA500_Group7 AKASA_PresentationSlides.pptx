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Roboto"/>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J0BZDf6Xbr2FictqAlJVuGeNE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Merriweather-regular.fntdata"/><Relationship Id="rId21" Type="http://schemas.openxmlformats.org/officeDocument/2006/relationships/font" Target="fonts/Roboto-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Merriweather-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nva.link/n0x78u3vxje7hy2"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kasa.com/careers/?ashby_workplace_type=Remote#openrole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kasa.com/leadership" TargetMode="External"/><Relationship Id="rId3" Type="http://schemas.openxmlformats.org/officeDocument/2006/relationships/hyperlink" Target="https://www.thecompanycheck.com/company/b/akasa/7rsqhwebebgtub19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rowjo.com/company/AKASA" TargetMode="External"/><Relationship Id="rId3" Type="http://schemas.openxmlformats.org/officeDocument/2006/relationships/hyperlink" Target="https://www.cbinsights.com/company/alpha-health/financials" TargetMode="External"/><Relationship Id="rId4" Type="http://schemas.openxmlformats.org/officeDocument/2006/relationships/hyperlink" Target="https://leadiq.com/c/akasa/5ea7280660fe562750119bdf#media" TargetMode="External"/><Relationship Id="rId5" Type="http://schemas.openxmlformats.org/officeDocument/2006/relationships/hyperlink" Target="https://www.cbinsights.com/company/alpha-health/financials" TargetMode="External"/><Relationship Id="rId6" Type="http://schemas.openxmlformats.org/officeDocument/2006/relationships/hyperlink" Target="https://www.cbinsights.com/company/alpha-health"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tientsquarecapital.com/team/jim-momtazee" TargetMode="External"/><Relationship Id="rId3" Type="http://schemas.openxmlformats.org/officeDocument/2006/relationships/hyperlink" Target="https://www.axios.com/2019/04/24/mary-meekers-new-firm-raises-125-billion-1556126061" TargetMode="External"/><Relationship Id="rId4" Type="http://schemas.openxmlformats.org/officeDocument/2006/relationships/hyperlink" Target="https://venturebeat.com/ai/costanoa" TargetMode="External"/><Relationship Id="rId5" Type="http://schemas.openxmlformats.org/officeDocument/2006/relationships/hyperlink" Target="https://www.costanoa.vc/team?category=investors" TargetMode="External"/><Relationship Id="rId6" Type="http://schemas.openxmlformats.org/officeDocument/2006/relationships/hyperlink" Target="https://www.thecompanycheck.com/company/b/akasa/7rsqhwebebgtub19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usinessmodelcanvastemplate.com/blogs/how-it-works/akasa-how-it-works" TargetMode="External"/><Relationship Id="rId3" Type="http://schemas.openxmlformats.org/officeDocument/2006/relationships/hyperlink" Target="https://akasa.com/solution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usinessmodelcanvastemplate.com/blogs/how-it-works/akasa-how-it-work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usinessmodelcanvastemplate.com/blogs/how-it-works/akasa-how-it-works" TargetMode="External"/><Relationship Id="rId3" Type="http://schemas.openxmlformats.org/officeDocument/2006/relationships/hyperlink" Target="https://akasa.com/careers/?ashby_jid=fd805dcf-7d8e-4f7d-b74c-6cafc32cf890#openrole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Power point: Just the </a:t>
            </a:r>
            <a:r>
              <a:rPr lang="en-US"/>
              <a:t>questionnaire</a:t>
            </a:r>
            <a:r>
              <a:rPr lang="en-US"/>
              <a:t> items </a:t>
            </a:r>
            <a:endParaRPr/>
          </a:p>
        </p:txBody>
      </p:sp>
      <p:sp>
        <p:nvSpPr>
          <p:cNvPr id="68" name="Google Shape;6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fdb8892bd_1_5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fdb8892bd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This is our lean canvas. In this presentation, we will be covering all of the points the group has researched about this company, </a:t>
            </a:r>
            <a:r>
              <a:rPr lang="en-US">
                <a:solidFill>
                  <a:schemeClr val="dk1"/>
                </a:solidFill>
              </a:rPr>
              <a:t>f</a:t>
            </a:r>
            <a:r>
              <a:rPr lang="en-US">
                <a:solidFill>
                  <a:schemeClr val="dk1"/>
                </a:solidFill>
              </a:rPr>
              <a:t>rom its history to its revenue streams.</a:t>
            </a:r>
            <a:endParaRPr>
              <a:solidFill>
                <a:schemeClr val="dk1"/>
              </a:solidFill>
            </a:endParaRPr>
          </a:p>
          <a:p>
            <a:pPr indent="0" lvl="0" marL="0" rtl="0" algn="l">
              <a:lnSpc>
                <a:spcPct val="115000"/>
              </a:lnSpc>
              <a:spcBef>
                <a:spcPts val="0"/>
              </a:spcBef>
              <a:spcAft>
                <a:spcPts val="0"/>
              </a:spcAft>
              <a:buNone/>
            </a:pPr>
            <a:r>
              <a:rPr lang="en-US">
                <a:solidFill>
                  <a:schemeClr val="dk1"/>
                </a:solidFill>
              </a:rPr>
              <a:t>_____</a:t>
            </a:r>
            <a:endParaRPr>
              <a:solidFill>
                <a:schemeClr val="dk1"/>
              </a:solidFill>
            </a:endParaRPr>
          </a:p>
          <a:p>
            <a:pPr indent="0" lvl="0" marL="0" rtl="0" algn="l">
              <a:lnSpc>
                <a:spcPct val="115000"/>
              </a:lnSpc>
              <a:spcBef>
                <a:spcPts val="0"/>
              </a:spcBef>
              <a:spcAft>
                <a:spcPts val="0"/>
              </a:spcAft>
              <a:buNone/>
            </a:pPr>
            <a:r>
              <a:rPr lang="en-US">
                <a:solidFill>
                  <a:schemeClr val="dk1"/>
                </a:solidFill>
              </a:rPr>
              <a:t>Link to Canva: </a:t>
            </a:r>
            <a:r>
              <a:rPr lang="en-US" u="sng">
                <a:solidFill>
                  <a:schemeClr val="hlink"/>
                </a:solidFill>
                <a:hlinkClick r:id="rId2"/>
              </a:rPr>
              <a:t>https://canva.link/n0x78u3vxje7hy2</a:t>
            </a:r>
            <a:r>
              <a:rPr lang="en-US">
                <a:solidFill>
                  <a:schemeClr val="dk1"/>
                </a:solidFill>
              </a:rPr>
              <a:t>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fc474de77_4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fc474de77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company structure is as follows: it is a privately owned company, meaning it is not publicly traded and as such there is no stock ticker symbol and therefore, no current share price. More will be explained in the partnerships and investment section by Yatza. The company was founded in 2018 and funded by private investors and partnerships. AKASA operates in the United states and its headquarters is located in South San Francisco, California. And its R&amp;D is distributed to different locations such as New York, Colorado, Washington along with opportunities for its employees to work remotely, thanks to their company’s focus on creating digital products </a:t>
            </a:r>
            <a:br>
              <a:rPr lang="en-US" sz="1200">
                <a:solidFill>
                  <a:schemeClr val="dk1"/>
                </a:solidFill>
                <a:latin typeface="Times New Roman"/>
                <a:ea typeface="Times New Roman"/>
                <a:cs typeface="Times New Roman"/>
                <a:sym typeface="Times New Roman"/>
              </a:rPr>
            </a:br>
            <a:br>
              <a:rPr lang="en-US" sz="1200">
                <a:solidFill>
                  <a:schemeClr val="dk1"/>
                </a:solidFill>
                <a:latin typeface="Times New Roman"/>
                <a:ea typeface="Times New Roman"/>
                <a:cs typeface="Times New Roman"/>
                <a:sym typeface="Times New Roman"/>
              </a:rPr>
            </a:br>
            <a:r>
              <a:rPr lang="en-US" sz="1200">
                <a:solidFill>
                  <a:schemeClr val="dk1"/>
                </a:solidFill>
                <a:latin typeface="Times New Roman"/>
                <a:ea typeface="Times New Roman"/>
                <a:cs typeface="Times New Roman"/>
                <a:sym typeface="Times New Roman"/>
              </a:rPr>
              <a:t>reference: </a:t>
            </a:r>
            <a:br>
              <a:rPr lang="en-US" sz="1200">
                <a:solidFill>
                  <a:schemeClr val="dk1"/>
                </a:solidFill>
                <a:latin typeface="Times New Roman"/>
                <a:ea typeface="Times New Roman"/>
                <a:cs typeface="Times New Roman"/>
                <a:sym typeface="Times New Roman"/>
              </a:rPr>
            </a:br>
            <a:br>
              <a:rPr lang="en-US" sz="1200">
                <a:solidFill>
                  <a:schemeClr val="dk1"/>
                </a:solidFill>
                <a:latin typeface="Times New Roman"/>
                <a:ea typeface="Times New Roman"/>
                <a:cs typeface="Times New Roman"/>
                <a:sym typeface="Times New Roman"/>
              </a:rPr>
            </a:br>
            <a:r>
              <a:rPr lang="en-US" sz="1200" u="sng">
                <a:solidFill>
                  <a:srgbClr val="1155CC"/>
                </a:solidFill>
                <a:latin typeface="Times New Roman"/>
                <a:ea typeface="Times New Roman"/>
                <a:cs typeface="Times New Roman"/>
                <a:sym typeface="Times New Roman"/>
                <a:hlinkClick r:id="rId2">
                  <a:extLst>
                    <a:ext uri="{A12FA001-AC4F-418D-AE19-62706E023703}">
                      <ahyp:hlinkClr val="tx"/>
                    </a:ext>
                  </a:extLst>
                </a:hlinkClick>
              </a:rPr>
              <a:t>https://akasa.com/careers/?ashby_workplace_type=Remote#openroles</a:t>
            </a:r>
            <a:endParaRPr sz="1200">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fc474de77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efc474de7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US" sz="1200">
                <a:solidFill>
                  <a:schemeClr val="dk1"/>
                </a:solidFill>
                <a:latin typeface="Times New Roman"/>
                <a:ea typeface="Times New Roman"/>
                <a:cs typeface="Times New Roman"/>
                <a:sym typeface="Times New Roman"/>
              </a:rPr>
              <a:t>The leadership team consists of 4 co-founders, Malinka Walaliyadde as the CEO, Andy Atwal as the Vice President, Varun Ganapathi serving as an advisor and Ben Beadle Ryby as the chief revenue officer. The leadership team does have other board members. Julie Yoo and Noah Knauf are said members. Furthermore, its advisors consist of Toby Cosgrove the former CEO of Cleveland Clinic as well as Frank Williams  who was the CEO and co-founder of Evolent Health and served as a chairman and CEO of the Advisory Board Company.  For finance and Operations, Akasa’s executive team has Amy Raymond, Ryan Roland and Zach Barrett. </a:t>
            </a:r>
            <a:br>
              <a:rPr lang="en-US" sz="1200">
                <a:solidFill>
                  <a:schemeClr val="dk1"/>
                </a:solidFill>
                <a:latin typeface="Times New Roman"/>
                <a:ea typeface="Times New Roman"/>
                <a:cs typeface="Times New Roman"/>
                <a:sym typeface="Times New Roman"/>
              </a:rPr>
            </a:br>
            <a:br>
              <a:rPr lang="en-US" sz="1200">
                <a:solidFill>
                  <a:schemeClr val="dk1"/>
                </a:solidFill>
                <a:latin typeface="Times New Roman"/>
                <a:ea typeface="Times New Roman"/>
                <a:cs typeface="Times New Roman"/>
                <a:sym typeface="Times New Roman"/>
              </a:rPr>
            </a:br>
            <a:r>
              <a:rPr lang="en-US" sz="1200">
                <a:solidFill>
                  <a:schemeClr val="dk1"/>
                </a:solidFill>
                <a:latin typeface="Times New Roman"/>
                <a:ea typeface="Times New Roman"/>
                <a:cs typeface="Times New Roman"/>
                <a:sym typeface="Times New Roman"/>
              </a:rPr>
              <a:t>Reference:</a:t>
            </a:r>
            <a:endParaRPr sz="12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1200" u="sng">
                <a:solidFill>
                  <a:schemeClr val="hlink"/>
                </a:solidFill>
                <a:latin typeface="Times New Roman"/>
                <a:ea typeface="Times New Roman"/>
                <a:cs typeface="Times New Roman"/>
                <a:sym typeface="Times New Roman"/>
                <a:hlinkClick r:id="rId2"/>
              </a:rPr>
              <a:t>https://akasa.com/leadership</a:t>
            </a:r>
            <a:endParaRPr sz="12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1200" u="sng">
                <a:solidFill>
                  <a:schemeClr val="hlink"/>
                </a:solidFill>
                <a:latin typeface="Times New Roman"/>
                <a:ea typeface="Times New Roman"/>
                <a:cs typeface="Times New Roman"/>
                <a:sym typeface="Times New Roman"/>
                <a:hlinkClick r:id="rId3"/>
              </a:rPr>
              <a:t>https://www.thecompanycheck.com/company/b/akasa/7rsqhwebebgtub19s</a:t>
            </a:r>
            <a:endParaRPr sz="1200">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fc474de77_4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fc474de77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fc474de77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fc474de7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What is the company worth? What are their annual sales?</a:t>
            </a:r>
            <a:endParaRPr sz="500"/>
          </a:p>
          <a:p>
            <a:pPr indent="0" lvl="0" marL="0" rtl="0" algn="l">
              <a:spcBef>
                <a:spcPts val="0"/>
              </a:spcBef>
              <a:spcAft>
                <a:spcPts val="0"/>
              </a:spcAft>
              <a:buNone/>
            </a:pPr>
            <a:r>
              <a:rPr lang="en-US"/>
              <a:t>AKASA’s annual revenue is currently 3.1 million </a:t>
            </a:r>
            <a:r>
              <a:rPr lang="en-US"/>
              <a:t>dollars</a:t>
            </a:r>
            <a:r>
              <a:rPr lang="en-US"/>
              <a:t> per year.</a:t>
            </a:r>
            <a:endParaRPr/>
          </a:p>
          <a:p>
            <a:pPr indent="0" lvl="0" marL="0" rtl="0" algn="l">
              <a:spcBef>
                <a:spcPts val="0"/>
              </a:spcBef>
              <a:spcAft>
                <a:spcPts val="0"/>
              </a:spcAft>
              <a:buNone/>
            </a:pPr>
            <a:r>
              <a:rPr lang="en-US"/>
              <a:t>They have 233 employees across 5 continents, including North America, Asia, and Africa.</a:t>
            </a:r>
            <a:endParaRPr/>
          </a:p>
          <a:p>
            <a:pPr indent="0" lvl="0" marL="0" rtl="0" algn="l">
              <a:spcBef>
                <a:spcPts val="0"/>
              </a:spcBef>
              <a:spcAft>
                <a:spcPts val="0"/>
              </a:spcAft>
              <a:buNone/>
            </a:pPr>
            <a:r>
              <a:rPr lang="en-US"/>
              <a:t>AKASA’s current total funds is $205 million dollars </a:t>
            </a:r>
            <a:r>
              <a:rPr lang="en-US"/>
              <a:t>with</a:t>
            </a:r>
            <a:r>
              <a:rPr lang="en-US"/>
              <a:t> large undisclosed investment of 120 million dollars in June 18th, 2024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298450" lvl="0" marL="457200" rtl="0" algn="l">
              <a:spcBef>
                <a:spcPts val="0"/>
              </a:spcBef>
              <a:spcAft>
                <a:spcPts val="0"/>
              </a:spcAft>
              <a:buSzPts val="1100"/>
              <a:buAutoNum type="arabicPeriod"/>
            </a:pPr>
            <a:r>
              <a:rPr lang="en-US" u="sng">
                <a:solidFill>
                  <a:schemeClr val="hlink"/>
                </a:solidFill>
                <a:hlinkClick r:id="rId2"/>
              </a:rPr>
              <a:t>https://growjo.com/company/AKASA</a:t>
            </a:r>
            <a:endParaRPr/>
          </a:p>
          <a:p>
            <a:pPr indent="-298450" lvl="0" marL="457200" rtl="0" algn="l">
              <a:spcBef>
                <a:spcPts val="0"/>
              </a:spcBef>
              <a:spcAft>
                <a:spcPts val="0"/>
              </a:spcAft>
              <a:buSzPts val="1100"/>
              <a:buAutoNum type="arabicPeriod"/>
            </a:pPr>
            <a:r>
              <a:rPr lang="en-US" u="sng">
                <a:solidFill>
                  <a:schemeClr val="hlink"/>
                </a:solidFill>
                <a:hlinkClick r:id="rId3"/>
              </a:rPr>
              <a:t>https://www.cbinsights.com/company/alpha-health/financials</a:t>
            </a:r>
            <a:endParaRPr/>
          </a:p>
          <a:p>
            <a:pPr indent="-298450" lvl="0" marL="457200" rtl="0" algn="l">
              <a:spcBef>
                <a:spcPts val="0"/>
              </a:spcBef>
              <a:spcAft>
                <a:spcPts val="0"/>
              </a:spcAft>
              <a:buSzPts val="1100"/>
              <a:buAutoNum type="arabicPeriod"/>
            </a:pPr>
            <a:r>
              <a:rPr lang="en-US" u="sng">
                <a:solidFill>
                  <a:schemeClr val="hlink"/>
                </a:solidFill>
                <a:hlinkClick r:id="rId4"/>
              </a:rPr>
              <a:t>https://leadiq.com/c/akasa/5ea7280660fe562750119bdf#media</a:t>
            </a:r>
            <a:endParaRPr/>
          </a:p>
          <a:p>
            <a:pPr indent="-298450" lvl="0" marL="457200" rtl="0" algn="l">
              <a:spcBef>
                <a:spcPts val="0"/>
              </a:spcBef>
              <a:spcAft>
                <a:spcPts val="0"/>
              </a:spcAft>
              <a:buSzPts val="1100"/>
              <a:buAutoNum type="arabicPeriod"/>
            </a:pPr>
            <a:r>
              <a:rPr lang="en-US" u="sng">
                <a:solidFill>
                  <a:schemeClr val="hlink"/>
                </a:solidFill>
                <a:hlinkClick r:id="rId5"/>
              </a:rPr>
              <a:t>https://www.cbinsights.com/company/alpha-health/financials</a:t>
            </a:r>
            <a:endParaRPr/>
          </a:p>
          <a:p>
            <a:pPr indent="-298450" lvl="0" marL="457200" rtl="0" algn="l">
              <a:spcBef>
                <a:spcPts val="0"/>
              </a:spcBef>
              <a:spcAft>
                <a:spcPts val="0"/>
              </a:spcAft>
              <a:buSzPts val="1100"/>
              <a:buAutoNum type="arabicPeriod"/>
            </a:pPr>
            <a:r>
              <a:rPr lang="en-US" u="sng">
                <a:solidFill>
                  <a:schemeClr val="hlink"/>
                </a:solidFill>
                <a:hlinkClick r:id="rId6"/>
              </a:rPr>
              <a:t>https://www.cbinsights.com/company/alpha-health</a:t>
            </a:r>
            <a:br>
              <a:rPr lang="en-US"/>
            </a:b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fc474de77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fc474de7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If the company is a startup, who is funding them, and how much funding have they received?Who are their major partners?</a:t>
            </a:r>
            <a:endParaRPr/>
          </a:p>
          <a:p>
            <a:pPr indent="0" lvl="0" marL="0" rtl="0" algn="l">
              <a:lnSpc>
                <a:spcPct val="115000"/>
              </a:lnSpc>
              <a:spcBef>
                <a:spcPts val="1200"/>
              </a:spcBef>
              <a:spcAft>
                <a:spcPts val="0"/>
              </a:spcAft>
              <a:buNone/>
            </a:pPr>
            <a:r>
              <a:rPr lang="en-US">
                <a:solidFill>
                  <a:schemeClr val="dk1"/>
                </a:solidFill>
              </a:rPr>
              <a:t>AKASA is funded by several leading venture capital firms, including Patient Square Capital, Bond Capital, Costanoa Ventures, and Andreessen Horowitz, also known as a16z.</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In total, the company has raised approximately $205 million in funding since its founding in 2018. This includes a $60 million Series B round in March 2021, backed by Bond Capital, Andreessen Horowitz, and Costanoa Ventures, as well as an additional $120 million Series C round announced on June 18, 2024, with undisclosed investors.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In addition to its investors, AKASA has a major healthcare partnership with the Cleveland Clinic, which also validate and support the company’s AI-powered revenue cycle solutions in real-world clinical settings.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Together, these funding rounds and partnerships reflect strong investor and industry confidence in AKASA’s AI-powered healthcare platform and its long-term growth potential.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Overall, this positions AKASA to continue expanding in the healthcare technology market in the years to come.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US" u="sng">
                <a:solidFill>
                  <a:schemeClr val="hlink"/>
                </a:solidFill>
                <a:hlinkClick r:id="rId2"/>
              </a:rPr>
              <a:t>https://patientsquarecapital.com/team/jim-momtazee</a:t>
            </a:r>
            <a:endParaRPr/>
          </a:p>
          <a:p>
            <a:pPr indent="-298450" lvl="0" marL="457200" rtl="0" algn="l">
              <a:spcBef>
                <a:spcPts val="0"/>
              </a:spcBef>
              <a:spcAft>
                <a:spcPts val="0"/>
              </a:spcAft>
              <a:buSzPts val="1100"/>
              <a:buAutoNum type="arabicPeriod"/>
            </a:pPr>
            <a:r>
              <a:rPr lang="en-US" u="sng">
                <a:solidFill>
                  <a:schemeClr val="hlink"/>
                </a:solidFill>
                <a:hlinkClick r:id="rId3"/>
              </a:rPr>
              <a:t>https://www.axios.com/2019/04/24/mary-meekers-new-firm-raises-125-billion-1556126061</a:t>
            </a:r>
            <a:endParaRPr/>
          </a:p>
          <a:p>
            <a:pPr indent="-298450" lvl="0" marL="457200" rtl="0" algn="l">
              <a:spcBef>
                <a:spcPts val="0"/>
              </a:spcBef>
              <a:spcAft>
                <a:spcPts val="0"/>
              </a:spcAft>
              <a:buSzPts val="1100"/>
              <a:buAutoNum type="arabicPeriod"/>
            </a:pPr>
            <a:r>
              <a:rPr lang="en-US" u="sng">
                <a:solidFill>
                  <a:schemeClr val="hlink"/>
                </a:solidFill>
                <a:hlinkClick r:id="rId4"/>
              </a:rPr>
              <a:t>https://venturebeat.com/ai/costanoa</a:t>
            </a:r>
            <a:endParaRPr/>
          </a:p>
          <a:p>
            <a:pPr indent="-298450" lvl="0" marL="457200" rtl="0" algn="l">
              <a:spcBef>
                <a:spcPts val="0"/>
              </a:spcBef>
              <a:spcAft>
                <a:spcPts val="0"/>
              </a:spcAft>
              <a:buSzPts val="1100"/>
              <a:buAutoNum type="arabicPeriod"/>
            </a:pPr>
            <a:r>
              <a:rPr lang="en-US" u="sng">
                <a:solidFill>
                  <a:schemeClr val="hlink"/>
                </a:solidFill>
                <a:hlinkClick r:id="rId5"/>
              </a:rPr>
              <a:t>https://www.costanoa.vc/team?category=investors</a:t>
            </a:r>
            <a:endParaRPr/>
          </a:p>
          <a:p>
            <a:pPr indent="-298450" lvl="0" marL="457200" rtl="0" algn="l">
              <a:spcBef>
                <a:spcPts val="0"/>
              </a:spcBef>
              <a:spcAft>
                <a:spcPts val="0"/>
              </a:spcAft>
              <a:buSzPts val="1100"/>
              <a:buAutoNum type="arabicPeriod"/>
            </a:pPr>
            <a:r>
              <a:rPr lang="en-US" u="sng">
                <a:solidFill>
                  <a:schemeClr val="hlink"/>
                </a:solidFill>
                <a:hlinkClick r:id="rId6"/>
              </a:rPr>
              <a:t>https://www.thecompanycheck.com/company/b/akasa/7rsqhwebebgtub19s</a:t>
            </a:r>
            <a:endParaRPr/>
          </a:p>
          <a:p>
            <a:pPr indent="0" lvl="0" marL="45720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c474de77_4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fc474de77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800"/>
              <a:t>Do they sell hardware, software, services, or a mix? </a:t>
            </a:r>
            <a:endParaRPr sz="1800"/>
          </a:p>
          <a:p>
            <a:pPr indent="0" lvl="0" marL="0" rtl="0" algn="l">
              <a:spcBef>
                <a:spcPts val="0"/>
              </a:spcBef>
              <a:spcAft>
                <a:spcPts val="0"/>
              </a:spcAft>
              <a:buClr>
                <a:schemeClr val="dk1"/>
              </a:buClr>
              <a:buSzPts val="1100"/>
              <a:buFont typeface="Arial"/>
              <a:buNone/>
            </a:pPr>
            <a:r>
              <a:rPr lang="en-US" sz="1800"/>
              <a:t>What are their most significant products?</a:t>
            </a:r>
            <a:endParaRPr sz="1800"/>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US">
                <a:solidFill>
                  <a:schemeClr val="dk1"/>
                </a:solidFill>
              </a:rPr>
              <a:t>AKASA is a software company that provides a Software-as-a-Service, or SaaS, platform for revenue cycle management. Its platform includes six AI-powered solutions that help healthcare organizations automate and optimize different parts of the revenue cycle workflow.</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One of its flagship products is the </a:t>
            </a:r>
            <a:r>
              <a:rPr b="1" lang="en-US">
                <a:solidFill>
                  <a:schemeClr val="dk1"/>
                </a:solidFill>
              </a:rPr>
              <a:t>Prebill Optimization</a:t>
            </a:r>
            <a:r>
              <a:rPr lang="en-US">
                <a:solidFill>
                  <a:schemeClr val="dk1"/>
                </a:solidFill>
              </a:rPr>
              <a:t> suite, which uses generative AI to improve inpatient encounter prebilling. The solution identifies documentation gaps and missed coding opportunities before claims are submitted. It works in three main steps. First, AKASA trains its custom large language models using an organization's billing and patient data.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Second, their AI model re-analyzes billing encounters, identifies documentation gaps or invalid codes,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 and provides actionable recommendations supported by clinical evidence, coding references, and confidence scores.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Finally, the suite includes </a:t>
            </a:r>
            <a:r>
              <a:rPr b="1" lang="en-US">
                <a:solidFill>
                  <a:schemeClr val="dk1"/>
                </a:solidFill>
              </a:rPr>
              <a:t>Coding Optimizer</a:t>
            </a:r>
            <a:r>
              <a:rPr lang="en-US">
                <a:solidFill>
                  <a:schemeClr val="dk1"/>
                </a:solidFill>
              </a:rPr>
              <a:t> and </a:t>
            </a:r>
            <a:r>
              <a:rPr b="1" lang="en-US">
                <a:solidFill>
                  <a:schemeClr val="dk1"/>
                </a:solidFill>
              </a:rPr>
              <a:t>CDI Optimizer</a:t>
            </a:r>
            <a:r>
              <a:rPr lang="en-US">
                <a:solidFill>
                  <a:schemeClr val="dk1"/>
                </a:solidFill>
              </a:rPr>
              <a:t>, which help coders and Clinical Documentation Integrity staff review and resolve billing issues through dedicated workflows.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Another product is </a:t>
            </a:r>
            <a:r>
              <a:rPr b="1" lang="en-US">
                <a:solidFill>
                  <a:schemeClr val="dk1"/>
                </a:solidFill>
              </a:rPr>
              <a:t>Auth Status</a:t>
            </a:r>
            <a:r>
              <a:rPr lang="en-US">
                <a:solidFill>
                  <a:schemeClr val="dk1"/>
                </a:solidFill>
              </a:rPr>
              <a:t>, which automates prior authorization requests and documents the results. </a:t>
            </a:r>
            <a:r>
              <a:rPr b="1" lang="en-US">
                <a:solidFill>
                  <a:schemeClr val="dk1"/>
                </a:solidFill>
              </a:rPr>
              <a:t>Claims Status</a:t>
            </a:r>
            <a:r>
              <a:rPr lang="en-US">
                <a:solidFill>
                  <a:schemeClr val="dk1"/>
                </a:solidFill>
              </a:rPr>
              <a:t> </a:t>
            </a:r>
            <a:r>
              <a:rPr lang="en-US">
                <a:solidFill>
                  <a:schemeClr val="dk1"/>
                </a:solidFill>
              </a:rPr>
              <a:t>solution - </a:t>
            </a:r>
            <a:r>
              <a:rPr lang="en-US">
                <a:solidFill>
                  <a:schemeClr val="dk1"/>
                </a:solidFill>
              </a:rPr>
              <a:t>prioritizes accounts that require follow-up by assigning higher follow-up scores to problematic claims, helping revenue cycle teams focus on the highest-priority work. Finally, </a:t>
            </a:r>
            <a:r>
              <a:rPr b="1" lang="en-US">
                <a:solidFill>
                  <a:schemeClr val="dk1"/>
                </a:solidFill>
              </a:rPr>
              <a:t>AI Advisor</a:t>
            </a:r>
            <a:r>
              <a:rPr lang="en-US">
                <a:solidFill>
                  <a:schemeClr val="dk1"/>
                </a:solidFill>
              </a:rPr>
              <a:t> is a conversational AI assistant that helps revenue cycle teams answer clinical and coding-related questions more efficiently.</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lang="en-US"/>
              <a:t>References</a:t>
            </a:r>
            <a:endParaRPr/>
          </a:p>
          <a:p>
            <a:pPr indent="-298450" lvl="0" marL="457200" rtl="0" algn="l">
              <a:spcBef>
                <a:spcPts val="0"/>
              </a:spcBef>
              <a:spcAft>
                <a:spcPts val="0"/>
              </a:spcAft>
              <a:buSzPts val="1100"/>
              <a:buAutoNum type="arabicPeriod"/>
            </a:pPr>
            <a:r>
              <a:rPr lang="en-US" u="sng">
                <a:solidFill>
                  <a:schemeClr val="hlink"/>
                </a:solidFill>
                <a:hlinkClick r:id="rId2"/>
              </a:rPr>
              <a:t>https://businessmodelcanvastemplate.com/blogs/how-it-works/akasa-how-it-works</a:t>
            </a:r>
            <a:r>
              <a:rPr lang="en-US"/>
              <a:t>?</a:t>
            </a:r>
            <a:endParaRPr/>
          </a:p>
          <a:p>
            <a:pPr indent="-298450" lvl="0" marL="457200" rtl="0" algn="l">
              <a:spcBef>
                <a:spcPts val="0"/>
              </a:spcBef>
              <a:spcAft>
                <a:spcPts val="0"/>
              </a:spcAft>
              <a:buSzPts val="1100"/>
              <a:buAutoNum type="arabicPeriod"/>
            </a:pPr>
            <a:r>
              <a:rPr lang="en-US" u="sng">
                <a:solidFill>
                  <a:schemeClr val="hlink"/>
                </a:solidFill>
                <a:hlinkClick r:id="rId3"/>
              </a:rPr>
              <a:t>https://akasa.com/solutions</a:t>
            </a:r>
            <a:endParaRPr/>
          </a:p>
          <a:p>
            <a:pPr indent="0" lvl="0" marL="45720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fc474de77_4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fc474de77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chemeClr val="dk1"/>
                </a:solidFill>
              </a:rPr>
              <a:t>What is their business and/or delivery model? </a:t>
            </a:r>
            <a:endParaRPr sz="1800">
              <a:solidFill>
                <a:schemeClr val="dk1"/>
              </a:solidFill>
            </a:endParaRPr>
          </a:p>
          <a:p>
            <a:pPr indent="0" lvl="0" marL="0" rtl="0" algn="l">
              <a:spcBef>
                <a:spcPts val="0"/>
              </a:spcBef>
              <a:spcAft>
                <a:spcPts val="0"/>
              </a:spcAft>
              <a:buNone/>
            </a:pPr>
            <a:r>
              <a:rPr lang="en-US" sz="1800">
                <a:solidFill>
                  <a:schemeClr val="dk1"/>
                </a:solidFill>
              </a:rPr>
              <a:t>How do they make or plan to make money? </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1200"/>
              </a:spcBef>
              <a:spcAft>
                <a:spcPts val="0"/>
              </a:spcAft>
              <a:buNone/>
            </a:pPr>
            <a:r>
              <a:rPr lang="en-US"/>
              <a:t>As mentioned in the previous slide, Akasa is a healthcare AI company that delivers its revenue cycle management software through a cloud-based Software as a Service, or SaaS, model.</a:t>
            </a:r>
            <a:endParaRPr/>
          </a:p>
          <a:p>
            <a:pPr indent="0" lvl="0" marL="0" rtl="0" algn="l">
              <a:lnSpc>
                <a:spcPct val="115000"/>
              </a:lnSpc>
              <a:spcBef>
                <a:spcPts val="1200"/>
              </a:spcBef>
              <a:spcAft>
                <a:spcPts val="0"/>
              </a:spcAft>
              <a:buNone/>
            </a:pPr>
            <a:r>
              <a:rPr lang="en-US"/>
              <a:t>Akasa generates revenue through several pricing strategies. Its primary source of revenue is its enterprise SaaS subscriptions, which are typically sold through multi-year enterprise contracts.</a:t>
            </a:r>
            <a:endParaRPr/>
          </a:p>
          <a:p>
            <a:pPr indent="0" lvl="0" marL="0" rtl="0" algn="l">
              <a:lnSpc>
                <a:spcPct val="115000"/>
              </a:lnSpc>
              <a:spcBef>
                <a:spcPts val="1200"/>
              </a:spcBef>
              <a:spcAft>
                <a:spcPts val="0"/>
              </a:spcAft>
              <a:buNone/>
            </a:pPr>
            <a:r>
              <a:rPr lang="en-US"/>
              <a:t>For smaller health systems, Akasa also offers a volume-based subscription model, where pricing is based on the number of claims processed or the patient encounter volume.</a:t>
            </a:r>
            <a:endParaRPr/>
          </a:p>
          <a:p>
            <a:pPr indent="0" lvl="0" marL="0" rtl="0" algn="l">
              <a:lnSpc>
                <a:spcPct val="115000"/>
              </a:lnSpc>
              <a:spcBef>
                <a:spcPts val="1200"/>
              </a:spcBef>
              <a:spcAft>
                <a:spcPts val="0"/>
              </a:spcAft>
              <a:buNone/>
            </a:pPr>
            <a:r>
              <a:rPr lang="en-US"/>
              <a:t>Additionally</a:t>
            </a:r>
            <a:r>
              <a:rPr lang="en-US"/>
              <a:t>, transaction-based pricing is offered for Autopilot Prior Authorization,</a:t>
            </a:r>
            <a:endParaRPr/>
          </a:p>
          <a:p>
            <a:pPr indent="0" lvl="0" marL="0" rtl="0" algn="l">
              <a:lnSpc>
                <a:spcPct val="115000"/>
              </a:lnSpc>
              <a:spcBef>
                <a:spcPts val="1200"/>
              </a:spcBef>
              <a:spcAft>
                <a:spcPts val="0"/>
              </a:spcAft>
              <a:buNone/>
            </a:pPr>
            <a:r>
              <a:rPr lang="en-US"/>
              <a:t> as well as performance-based fees for denial recovery, where pricing is tied to the value delivered rather than utilization.</a:t>
            </a:r>
            <a:endParaRPr/>
          </a:p>
          <a:p>
            <a:pPr indent="0" lvl="0" marL="0" rtl="0" algn="l">
              <a:lnSpc>
                <a:spcPct val="115000"/>
              </a:lnSpc>
              <a:spcBef>
                <a:spcPts val="1200"/>
              </a:spcBef>
              <a:spcAft>
                <a:spcPts val="0"/>
              </a:spcAft>
              <a:buNone/>
            </a:pPr>
            <a:r>
              <a:rPr lang="en-US"/>
              <a:t>Finally, Akasa offers professional services to support implementations, custom workflow mapping, and training for revenue cycle staff.</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298450" lvl="0" marL="457200" rtl="0" algn="l">
              <a:spcBef>
                <a:spcPts val="0"/>
              </a:spcBef>
              <a:spcAft>
                <a:spcPts val="0"/>
              </a:spcAft>
              <a:buSzPts val="1100"/>
              <a:buAutoNum type="arabicPeriod"/>
            </a:pPr>
            <a:r>
              <a:rPr lang="en-US" u="sng">
                <a:solidFill>
                  <a:schemeClr val="hlink"/>
                </a:solidFill>
                <a:hlinkClick r:id="rId2"/>
              </a:rPr>
              <a:t>https://businessmodelcanvastemplate.com/blogs/how-it-works/akasa-how-it-works</a:t>
            </a:r>
            <a:r>
              <a:rPr lang="en-US"/>
              <a:t>?</a:t>
            </a:r>
            <a:endParaRPr/>
          </a:p>
          <a:p>
            <a:pPr indent="0" lvl="0" marL="45720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fcdea223b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fcdea223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While AKASA provides limited information about its technical infrastructure on its website, we can infer some of the technologies it uses from its engineering job postings and technical marketing documentation.</a:t>
            </a:r>
            <a:endParaRPr/>
          </a:p>
          <a:p>
            <a:pPr indent="0" lvl="0" marL="0" rtl="0" algn="l">
              <a:lnSpc>
                <a:spcPct val="115000"/>
              </a:lnSpc>
              <a:spcBef>
                <a:spcPts val="1200"/>
              </a:spcBef>
              <a:spcAft>
                <a:spcPts val="0"/>
              </a:spcAft>
              <a:buClr>
                <a:schemeClr val="dk1"/>
              </a:buClr>
              <a:buSzPts val="1100"/>
              <a:buFont typeface="Arial"/>
              <a:buNone/>
            </a:pPr>
            <a:r>
              <a:rPr lang="en-US"/>
              <a:t>Based on those resources, AKASA appears to use Amazon Web Services, or AWS, as its cloud platform, along with Kubernetes for container orchestration, PostgreSQL for data storage, and Python with machine learning libraries such as SQLAlchemy, scikit-learn, and PyTorch to develop and deploy its AI models. The company also supports interoperability with various electronic health record, or EHR, systems through HL7 and FHIR integration standards.</a:t>
            </a:r>
            <a:endParaRPr/>
          </a:p>
          <a:p>
            <a:pPr indent="0" lvl="0" marL="0" rtl="0" algn="l">
              <a:lnSpc>
                <a:spcPct val="115000"/>
              </a:lnSpc>
              <a:spcBef>
                <a:spcPts val="1200"/>
              </a:spcBef>
              <a:spcAft>
                <a:spcPts val="0"/>
              </a:spcAft>
              <a:buNone/>
            </a:pPr>
            <a:r>
              <a:rPr lang="en-US"/>
              <a:t>The diagram shown on this slide is a conceptual representation of AKASA's architecture based on the technologies the company references publicly. </a:t>
            </a:r>
            <a:endParaRPr/>
          </a:p>
          <a:p>
            <a:pPr indent="0" lvl="0" marL="0" rtl="0" algn="l">
              <a:lnSpc>
                <a:spcPct val="115000"/>
              </a:lnSpc>
              <a:spcBef>
                <a:spcPts val="1200"/>
              </a:spcBef>
              <a:spcAft>
                <a:spcPts val="0"/>
              </a:spcAft>
              <a:buClr>
                <a:schemeClr val="dk1"/>
              </a:buClr>
              <a:buSzPts val="1100"/>
              <a:buFont typeface="Arial"/>
              <a:buNone/>
            </a:pPr>
            <a:r>
              <a:rPr lang="en-US"/>
              <a:t>This is not an official architecture diagram, but rather an illustration of how these technologies likely work together to support its AI-powered revenue cycle management platform.</a:t>
            </a:r>
            <a:endParaRPr/>
          </a:p>
          <a:p>
            <a:pPr indent="0" lvl="0" marL="0" rtl="0" algn="l">
              <a:lnSpc>
                <a:spcPct val="115000"/>
              </a:lnSpc>
              <a:spcBef>
                <a:spcPts val="1200"/>
              </a:spcBef>
              <a:spcAft>
                <a:spcPts val="0"/>
              </a:spcAft>
              <a:buClr>
                <a:schemeClr val="dk1"/>
              </a:buClr>
              <a:buSzPts val="1100"/>
              <a:buFont typeface="Arial"/>
              <a:buNone/>
            </a:pPr>
            <a:r>
              <a:rPr lang="en-US"/>
              <a:t>As shown in the diagram, data from an EHR system is securely ingested into an AWS cloud environment using FHIR APIs and VPN connections that support both HL7 and JSON-based integrations. The data is then processed within a Kubernetes cluster, which orchestrates communication between the machine learning prediction server and the PostgreSQL database. A Retrieval-Augmented Generation, or RAG, server accesses the patients clinical and billing data to generate coding recommendations, support claims processing, predict claim denials, and prior authorization requests.</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298450" lvl="0" marL="457200" rtl="0" algn="l">
              <a:spcBef>
                <a:spcPts val="0"/>
              </a:spcBef>
              <a:spcAft>
                <a:spcPts val="0"/>
              </a:spcAft>
              <a:buSzPts val="1100"/>
              <a:buAutoNum type="arabicPeriod"/>
            </a:pPr>
            <a:r>
              <a:rPr lang="en-US" u="sng">
                <a:solidFill>
                  <a:schemeClr val="hlink"/>
                </a:solidFill>
                <a:hlinkClick r:id="rId2"/>
              </a:rPr>
              <a:t>https://businessmodelcanvastemplate.com/blogs/how-it-works/akasa-how-it-works</a:t>
            </a:r>
            <a:endParaRPr/>
          </a:p>
          <a:p>
            <a:pPr indent="-298450" lvl="0" marL="457200" rtl="0" algn="l">
              <a:spcBef>
                <a:spcPts val="0"/>
              </a:spcBef>
              <a:spcAft>
                <a:spcPts val="0"/>
              </a:spcAft>
              <a:buSzPts val="1100"/>
              <a:buAutoNum type="arabicPeriod"/>
            </a:pPr>
            <a:r>
              <a:rPr lang="en-US" u="sng">
                <a:solidFill>
                  <a:schemeClr val="hlink"/>
                </a:solidFill>
                <a:hlinkClick r:id="rId3"/>
              </a:rPr>
              <a:t>https://akasa.com/careers/?ashby_jid=fd805dcf-7d8e-4f7d-b74c-6cafc32cf890#openroles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fc474de77_4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fc474de77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NINA</a:t>
            </a:r>
            <a:endParaRPr/>
          </a:p>
          <a:p>
            <a:pPr indent="0" lvl="0" marL="0" rtl="0" algn="l">
              <a:spcBef>
                <a:spcPts val="0"/>
              </a:spcBef>
              <a:spcAft>
                <a:spcPts val="0"/>
              </a:spcAft>
              <a:buNone/>
            </a:pPr>
            <a:r>
              <a:t/>
            </a:r>
            <a:endParaRPr/>
          </a:p>
          <a:p>
            <a:pPr indent="0" lvl="0" marL="0" rtl="0" algn="l">
              <a:lnSpc>
                <a:spcPct val="90000"/>
              </a:lnSpc>
              <a:spcBef>
                <a:spcPts val="1000"/>
              </a:spcBef>
              <a:spcAft>
                <a:spcPts val="0"/>
              </a:spcAft>
              <a:buClr>
                <a:schemeClr val="dk1"/>
              </a:buClr>
              <a:buSzPts val="1100"/>
              <a:buFont typeface="Arial"/>
              <a:buNone/>
            </a:pPr>
            <a:r>
              <a:rPr lang="en-US" sz="900">
                <a:solidFill>
                  <a:srgbClr val="666666"/>
                </a:solidFill>
                <a:latin typeface="Roboto"/>
                <a:ea typeface="Roboto"/>
                <a:cs typeface="Roboto"/>
                <a:sym typeface="Roboto"/>
              </a:rPr>
              <a:t>AKASA’s primary competitors consist of R1, Thoughtful AI, and Infinitus. These three companies compete in providing similar services and products for healthcare revenue cycle management.</a:t>
            </a:r>
            <a:endParaRPr sz="100"/>
          </a:p>
          <a:p>
            <a:pPr indent="0" lvl="0" marL="0" rtl="0" algn="l">
              <a:spcBef>
                <a:spcPts val="1600"/>
              </a:spcBef>
              <a:spcAft>
                <a:spcPts val="0"/>
              </a:spcAft>
              <a:buNone/>
            </a:pPr>
            <a:r>
              <a:t/>
            </a:r>
            <a:endParaRPr/>
          </a:p>
          <a:p>
            <a:pPr indent="0" lvl="0" marL="0" rtl="0" algn="l">
              <a:spcBef>
                <a:spcPts val="0"/>
              </a:spcBef>
              <a:spcAft>
                <a:spcPts val="0"/>
              </a:spcAft>
              <a:buNone/>
            </a:pPr>
            <a:r>
              <a:rPr lang="en-US"/>
              <a:t>R1 RCM is more traditional company compared to Akasa with the company having more than 20 years of Industry experience, Thoughtful  AI and Infinitus. R1 has Full service outsourcing partner for end-to-end automation of revenue cycling such as billing, coding and claims. Primary focus on AI agents but still employs onsite staff.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Thoughtful AI: Has compatibility with both cloud-based and on premise integration. Thoughtful Ai focuses specifically on AI agents </a:t>
            </a:r>
            <a:r>
              <a:rPr lang="en-US"/>
              <a:t>development and deployment</a:t>
            </a:r>
            <a:r>
              <a:rPr lang="en-US"/>
              <a:t> with pre-existing RCM stacks.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Infinitus key distinction is that it is used for phone based tasks for benefit verification, prior authorization and follow-ups. It's also uniquely focused on patient-facing and payer-facing conversations, not just back-office workflows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 Differences and notes: In comparison to the following companies, AKASA primarily focuses on generative AI for Epic and Cerner systems which is more geared towards hospital systems. AKASA does not require on premises integration.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fc474de77_4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fc474de77_4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AKASA’s future prospects focus on the development and application of GenAI into operations and administrative work. By using Large Language Models, GenAI would be used towards clinical intake and revenue cycling. The primary path for AKASA is headed towards creating infrastructure for GenAI use in revenue cycling by utilizing a three-phase approach to review, train and use its developed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step of review mode, AKASA’s Gen AI would use a customized LLM to review encounters for optimization.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next step of Co-pilot mode, integration of GenAI suggestions would be fed into the CDI and coding to help save time for clinicians and staff. It is here where metrics in accuracy and quality can be tracked for </a:t>
            </a:r>
            <a:r>
              <a:rPr lang="en-US"/>
              <a:t>improvement</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the last phase, Autonomous mode would enable the Gen AI to </a:t>
            </a:r>
            <a:r>
              <a:rPr lang="en-US"/>
              <a:t>automate</a:t>
            </a:r>
            <a:r>
              <a:rPr lang="en-US"/>
              <a:t> direct-to-bill actions based on recommendations of high confidence. This would help reduce backlog and minimize costs to collect which helps </a:t>
            </a:r>
            <a:r>
              <a:rPr lang="en-US"/>
              <a:t>improve</a:t>
            </a:r>
            <a:r>
              <a:rPr lang="en-US"/>
              <a:t> turnaround times.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fee452e6e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fee452e6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Thank you for listening to our presentation on AKASA. Please feel free to ask us questions in the comments. Take care and Have a nice day.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g3efdb8892bd_1_497"/>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g3efdb8892bd_1_497"/>
          <p:cNvSpPr txBox="1"/>
          <p:nvPr>
            <p:ph type="ctr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 name="Google Shape;12;g3efdb8892bd_1_497"/>
          <p:cNvSpPr txBox="1"/>
          <p:nvPr>
            <p:ph idx="1" type="subTitle"/>
          </p:nvPr>
        </p:nvSpPr>
        <p:spPr>
          <a:xfrm>
            <a:off x="415600" y="2504747"/>
            <a:ext cx="5656800" cy="984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p:txBody>
      </p:sp>
      <p:sp>
        <p:nvSpPr>
          <p:cNvPr id="13" name="Google Shape;13;g3efdb8892bd_1_49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g3efdb8892bd_1_502"/>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g3efdb8892bd_1_502"/>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g3efdb8892bd_1_502"/>
          <p:cNvSpPr txBox="1"/>
          <p:nvPr>
            <p:ph type="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8" name="Google Shape;18;g3efdb8892bd_1_50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g3efdb8892bd_1_507"/>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g3efdb8892bd_1_507"/>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g3efdb8892bd_1_507"/>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g3efdb8892bd_1_507"/>
          <p:cNvSpPr txBox="1"/>
          <p:nvPr>
            <p:ph type="title"/>
          </p:nvPr>
        </p:nvSpPr>
        <p:spPr>
          <a:xfrm>
            <a:off x="415633" y="667900"/>
            <a:ext cx="4941900" cy="3345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4" name="Google Shape;24;g3efdb8892bd_1_507"/>
          <p:cNvSpPr txBox="1"/>
          <p:nvPr>
            <p:ph idx="1" type="body"/>
          </p:nvPr>
        </p:nvSpPr>
        <p:spPr>
          <a:xfrm>
            <a:off x="6192900" y="667900"/>
            <a:ext cx="5555100" cy="5464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5" name="Google Shape;25;g3efdb8892bd_1_50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g3efdb8892bd_1_514"/>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efdb8892bd_1_514"/>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9" name="Google Shape;29;g3efdb8892bd_1_514"/>
          <p:cNvSpPr txBox="1"/>
          <p:nvPr>
            <p:ph idx="1" type="body"/>
          </p:nvPr>
        </p:nvSpPr>
        <p:spPr>
          <a:xfrm>
            <a:off x="4156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0" name="Google Shape;30;g3efdb8892bd_1_514"/>
          <p:cNvSpPr txBox="1"/>
          <p:nvPr>
            <p:ph idx="2" type="body"/>
          </p:nvPr>
        </p:nvSpPr>
        <p:spPr>
          <a:xfrm>
            <a:off x="64432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1" name="Google Shape;31;g3efdb8892bd_1_51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g3efdb8892bd_1_520"/>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efdb8892bd_1_520"/>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5" name="Google Shape;35;g3efdb8892bd_1_52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g3efdb8892bd_1_524"/>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efdb8892bd_1_524"/>
          <p:cNvSpPr txBox="1"/>
          <p:nvPr>
            <p:ph type="title"/>
          </p:nvPr>
        </p:nvSpPr>
        <p:spPr>
          <a:xfrm>
            <a:off x="415633" y="667900"/>
            <a:ext cx="4170000" cy="2438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9" name="Google Shape;39;g3efdb8892bd_1_524"/>
          <p:cNvSpPr txBox="1"/>
          <p:nvPr>
            <p:ph idx="1" type="body"/>
          </p:nvPr>
        </p:nvSpPr>
        <p:spPr>
          <a:xfrm>
            <a:off x="415600" y="3187533"/>
            <a:ext cx="4170000" cy="3063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40" name="Google Shape;40;g3efdb8892bd_1_52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g3efdb8892bd_1_529"/>
          <p:cNvSpPr txBox="1"/>
          <p:nvPr>
            <p:ph type="title"/>
          </p:nvPr>
        </p:nvSpPr>
        <p:spPr>
          <a:xfrm>
            <a:off x="415567" y="1064800"/>
            <a:ext cx="8330400" cy="4728300"/>
          </a:xfrm>
          <a:prstGeom prst="rect">
            <a:avLst/>
          </a:prstGeom>
        </p:spPr>
        <p:txBody>
          <a:bodyPr anchorCtr="0" anchor="ctr"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g3efdb8892bd_1_52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g3efdb8892bd_1_532"/>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g3efdb8892bd_1_532"/>
          <p:cNvSpPr txBox="1"/>
          <p:nvPr>
            <p:ph type="title"/>
          </p:nvPr>
        </p:nvSpPr>
        <p:spPr>
          <a:xfrm>
            <a:off x="415067" y="667900"/>
            <a:ext cx="4939200" cy="273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47" name="Google Shape;47;g3efdb8892bd_1_532"/>
          <p:cNvSpPr txBox="1"/>
          <p:nvPr>
            <p:ph idx="1" type="subTitle"/>
          </p:nvPr>
        </p:nvSpPr>
        <p:spPr>
          <a:xfrm>
            <a:off x="406400" y="3502300"/>
            <a:ext cx="4939200" cy="1235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p:txBody>
      </p:sp>
      <p:sp>
        <p:nvSpPr>
          <p:cNvPr id="48" name="Google Shape;48;g3efdb8892bd_1_532"/>
          <p:cNvSpPr txBox="1"/>
          <p:nvPr>
            <p:ph idx="2" type="body"/>
          </p:nvPr>
        </p:nvSpPr>
        <p:spPr>
          <a:xfrm>
            <a:off x="6505367" y="667900"/>
            <a:ext cx="5271900" cy="5481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9" name="Google Shape;49;g3efdb8892bd_1_5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g3efdb8892bd_1_538"/>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g3efdb8892bd_1_538"/>
          <p:cNvSpPr txBox="1"/>
          <p:nvPr>
            <p:ph idx="1" type="body"/>
          </p:nvPr>
        </p:nvSpPr>
        <p:spPr>
          <a:xfrm>
            <a:off x="415600" y="6028533"/>
            <a:ext cx="106392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53" name="Google Shape;53;g3efdb8892bd_1_53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g3efdb8892bd_1_542"/>
          <p:cNvSpPr txBox="1"/>
          <p:nvPr>
            <p:ph hasCustomPrompt="1" type="title"/>
          </p:nvPr>
        </p:nvSpPr>
        <p:spPr>
          <a:xfrm>
            <a:off x="415667" y="1108233"/>
            <a:ext cx="7113300" cy="16596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56" name="Google Shape;56;g3efdb8892bd_1_542"/>
          <p:cNvSpPr txBox="1"/>
          <p:nvPr>
            <p:ph idx="1" type="body"/>
          </p:nvPr>
        </p:nvSpPr>
        <p:spPr>
          <a:xfrm>
            <a:off x="415600" y="2828567"/>
            <a:ext cx="7113300" cy="1256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57" name="Google Shape;57;g3efdb8892bd_1_54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g3efdb8892bd_1_54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g3efdb8892bd_1_54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62" name="Google Shape;62;g3efdb8892bd_1_54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63" name="Google Shape;63;g3efdb8892bd_1_54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g3efdb8892bd_1_54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g3efdb8892bd_1_54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g3efdb8892bd_1_49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p:txBody>
      </p:sp>
      <p:sp>
        <p:nvSpPr>
          <p:cNvPr id="7" name="Google Shape;7;g3efdb8892bd_1_49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indent="-323850" lvl="1" marL="914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indent="-323850" lvl="2" marL="1371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indent="-323850" lvl="3" marL="1828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indent="-323850" lvl="4" marL="22860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indent="-323850" lvl="5" marL="27432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indent="-323850" lvl="6" marL="3200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indent="-323850" lvl="7" marL="3657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indent="-323850" lvl="8" marL="4114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p:txBody>
      </p:sp>
      <p:sp>
        <p:nvSpPr>
          <p:cNvPr id="8" name="Google Shape;8;g3efdb8892bd_1_4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drive.google.com/file/d/1XmyVFzb4B_8oKyV5Qc8FG59eIDkxYtOH/view"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hyperlink" Target="http://drive.google.com/file/d/1VIrXFF17VpciSTc55aEghlyOoaY5iDaO/view" TargetMode="Externa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drive.google.com/file/d/1TDZsYSzrDof1V1U688a2h7OmaP-1oRqC/view"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drive.google.com/file/d/1375AEkc3_MbpmiMr_PAmtmCvL2boyx73/view"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gif"/><Relationship Id="rId4" Type="http://schemas.openxmlformats.org/officeDocument/2006/relationships/hyperlink" Target="http://drive.google.com/file/d/1IOYrCCxr1-ho_eUFNNdjqQJsYMhQDOBD/view" TargetMode="Externa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gif"/><Relationship Id="rId4" Type="http://schemas.openxmlformats.org/officeDocument/2006/relationships/hyperlink" Target="http://drive.google.com/file/d/14ZxXpST2KfBmjoOfrN-FrObygCJ1IiEQ/view" TargetMode="Externa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hyperlink" Target="http://drive.google.com/file/d/1k71UyR0Ub8_zt_RTfsyKfYD46XB7l4L-/view" TargetMode="Externa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drive.google.com/file/d/1JdCLY__GNdUECOiZmBOYGU6M77lh5UZ4/view" TargetMode="External"/><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hyperlink" Target="http://drive.google.com/file/d/1BL3NHrvFapjaMN6zYBKMqgWOGJ8d5r0U/view" TargetMode="Externa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drive.google.com/file/d/1cL06mG9RDp8qFMiSNtHPmJcf8osNygtm/view" TargetMode="Externa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hyperlink" Target="http://drive.google.com/file/d/15Z6Ir_AHTbKZTBiKvEgK8GKCnThJ2k_V/view" TargetMode="External"/><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drive.google.com/file/d/1-hKERGsiwMPVEG4droclN8_YeJ2l67XG/view" TargetMode="Externa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drive.google.com/file/d/11O3YqPtD2ZTJle4dS1c9t8IbMbF_CltM/view"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
          <p:cNvSpPr txBox="1"/>
          <p:nvPr>
            <p:ph type="ctrTitle"/>
          </p:nvPr>
        </p:nvSpPr>
        <p:spPr>
          <a:xfrm>
            <a:off x="1524004" y="1722643"/>
            <a:ext cx="9144000" cy="1267200"/>
          </a:xfrm>
          <a:prstGeom prst="rect">
            <a:avLst/>
          </a:prstGeom>
          <a:noFill/>
          <a:ln>
            <a:noFill/>
          </a:ln>
        </p:spPr>
        <p:txBody>
          <a:bodyPr anchorCtr="0" anchor="b" bIns="45700" lIns="91425" spcFirstLastPara="1" rIns="91425" wrap="square" tIns="45700">
            <a:normAutofit/>
          </a:bodyPr>
          <a:lstStyle/>
          <a:p>
            <a:pPr indent="0" lvl="0" marL="0" rtl="0" algn="ctr">
              <a:lnSpc>
                <a:spcPct val="115000"/>
              </a:lnSpc>
              <a:spcBef>
                <a:spcPts val="0"/>
              </a:spcBef>
              <a:spcAft>
                <a:spcPts val="0"/>
              </a:spcAft>
              <a:buNone/>
            </a:pPr>
            <a:r>
              <a:rPr b="1" lang="en-US" sz="2800">
                <a:solidFill>
                  <a:srgbClr val="000000"/>
                </a:solidFill>
                <a:latin typeface="Arial"/>
                <a:ea typeface="Arial"/>
                <a:cs typeface="Arial"/>
                <a:sym typeface="Arial"/>
              </a:rPr>
              <a:t>Transforming Healthcare Revenue Cycle Management Through Artificial Intelligence</a:t>
            </a:r>
            <a:endParaRPr sz="6500"/>
          </a:p>
        </p:txBody>
      </p:sp>
      <p:sp>
        <p:nvSpPr>
          <p:cNvPr id="71" name="Google Shape;71;p1"/>
          <p:cNvSpPr txBox="1"/>
          <p:nvPr>
            <p:ph idx="1" type="subTitle"/>
          </p:nvPr>
        </p:nvSpPr>
        <p:spPr>
          <a:xfrm>
            <a:off x="1524000" y="3869775"/>
            <a:ext cx="10503600" cy="2823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2400"/>
              <a:buNone/>
            </a:pPr>
            <a:r>
              <a:rPr lang="en-US" sz="3400">
                <a:solidFill>
                  <a:schemeClr val="lt1"/>
                </a:solidFill>
                <a:latin typeface="Merriweather"/>
                <a:ea typeface="Merriweather"/>
                <a:cs typeface="Merriweather"/>
                <a:sym typeface="Merriweather"/>
              </a:rPr>
              <a:t>Presented By: </a:t>
            </a:r>
            <a:endParaRPr sz="3400">
              <a:solidFill>
                <a:schemeClr val="lt1"/>
              </a:solidFill>
              <a:latin typeface="Merriweather"/>
              <a:ea typeface="Merriweather"/>
              <a:cs typeface="Merriweather"/>
              <a:sym typeface="Merriweather"/>
            </a:endParaRPr>
          </a:p>
          <a:p>
            <a:pPr indent="0" lvl="0" marL="0" rtl="0" algn="r">
              <a:lnSpc>
                <a:spcPct val="90000"/>
              </a:lnSpc>
              <a:spcBef>
                <a:spcPts val="0"/>
              </a:spcBef>
              <a:spcAft>
                <a:spcPts val="0"/>
              </a:spcAft>
              <a:buClr>
                <a:schemeClr val="dk1"/>
              </a:buClr>
              <a:buSzPts val="2400"/>
              <a:buNone/>
            </a:pPr>
            <a:r>
              <a:rPr lang="en-US" sz="3400">
                <a:solidFill>
                  <a:schemeClr val="lt1"/>
                </a:solidFill>
                <a:latin typeface="Merriweather"/>
                <a:ea typeface="Merriweather"/>
                <a:cs typeface="Merriweather"/>
                <a:sym typeface="Merriweather"/>
              </a:rPr>
              <a:t>Nina Barcelon</a:t>
            </a:r>
            <a:endParaRPr sz="3400">
              <a:solidFill>
                <a:schemeClr val="lt1"/>
              </a:solidFill>
              <a:latin typeface="Merriweather"/>
              <a:ea typeface="Merriweather"/>
              <a:cs typeface="Merriweather"/>
              <a:sym typeface="Merriweather"/>
            </a:endParaRPr>
          </a:p>
          <a:p>
            <a:pPr indent="0" lvl="0" marL="0" rtl="0" algn="r">
              <a:lnSpc>
                <a:spcPct val="90000"/>
              </a:lnSpc>
              <a:spcBef>
                <a:spcPts val="0"/>
              </a:spcBef>
              <a:spcAft>
                <a:spcPts val="0"/>
              </a:spcAft>
              <a:buClr>
                <a:schemeClr val="dk1"/>
              </a:buClr>
              <a:buSzPts val="2400"/>
              <a:buNone/>
            </a:pPr>
            <a:r>
              <a:rPr lang="en-US" sz="3400">
                <a:solidFill>
                  <a:schemeClr val="lt1"/>
                </a:solidFill>
                <a:latin typeface="Merriweather"/>
                <a:ea typeface="Merriweather"/>
                <a:cs typeface="Merriweather"/>
                <a:sym typeface="Merriweather"/>
              </a:rPr>
              <a:t>Paul Quimbo</a:t>
            </a:r>
            <a:endParaRPr sz="3400">
              <a:solidFill>
                <a:schemeClr val="lt1"/>
              </a:solidFill>
              <a:latin typeface="Merriweather"/>
              <a:ea typeface="Merriweather"/>
              <a:cs typeface="Merriweather"/>
              <a:sym typeface="Merriweather"/>
            </a:endParaRPr>
          </a:p>
          <a:p>
            <a:pPr indent="0" lvl="0" marL="0" rtl="0" algn="r">
              <a:lnSpc>
                <a:spcPct val="90000"/>
              </a:lnSpc>
              <a:spcBef>
                <a:spcPts val="0"/>
              </a:spcBef>
              <a:spcAft>
                <a:spcPts val="0"/>
              </a:spcAft>
              <a:buClr>
                <a:schemeClr val="dk1"/>
              </a:buClr>
              <a:buSzPts val="2400"/>
              <a:buNone/>
            </a:pPr>
            <a:r>
              <a:rPr lang="en-US" sz="3400">
                <a:solidFill>
                  <a:schemeClr val="lt1"/>
                </a:solidFill>
                <a:latin typeface="Merriweather"/>
                <a:ea typeface="Merriweather"/>
                <a:cs typeface="Merriweather"/>
                <a:sym typeface="Merriweather"/>
              </a:rPr>
              <a:t>Shahin Yaghinloo</a:t>
            </a:r>
            <a:endParaRPr sz="3400">
              <a:solidFill>
                <a:schemeClr val="lt1"/>
              </a:solidFill>
              <a:latin typeface="Merriweather"/>
              <a:ea typeface="Merriweather"/>
              <a:cs typeface="Merriweather"/>
              <a:sym typeface="Merriweather"/>
            </a:endParaRPr>
          </a:p>
          <a:p>
            <a:pPr indent="0" lvl="0" marL="0" rtl="0" algn="r">
              <a:lnSpc>
                <a:spcPct val="90000"/>
              </a:lnSpc>
              <a:spcBef>
                <a:spcPts val="0"/>
              </a:spcBef>
              <a:spcAft>
                <a:spcPts val="0"/>
              </a:spcAft>
              <a:buClr>
                <a:schemeClr val="dk1"/>
              </a:buClr>
              <a:buSzPts val="2400"/>
              <a:buNone/>
            </a:pPr>
            <a:r>
              <a:rPr lang="en-US" sz="3400">
                <a:solidFill>
                  <a:schemeClr val="lt1"/>
                </a:solidFill>
                <a:latin typeface="Merriweather"/>
                <a:ea typeface="Merriweather"/>
                <a:cs typeface="Merriweather"/>
                <a:sym typeface="Merriweather"/>
              </a:rPr>
              <a:t>Yatza Lo</a:t>
            </a:r>
            <a:endParaRPr sz="3400">
              <a:solidFill>
                <a:schemeClr val="lt1"/>
              </a:solidFill>
              <a:latin typeface="Merriweather"/>
              <a:ea typeface="Merriweather"/>
              <a:cs typeface="Merriweather"/>
              <a:sym typeface="Merriweather"/>
            </a:endParaRPr>
          </a:p>
          <a:p>
            <a:pPr indent="0" lvl="0" marL="0" rtl="0" algn="ctr">
              <a:lnSpc>
                <a:spcPct val="90000"/>
              </a:lnSpc>
              <a:spcBef>
                <a:spcPts val="0"/>
              </a:spcBef>
              <a:spcAft>
                <a:spcPts val="0"/>
              </a:spcAft>
              <a:buClr>
                <a:schemeClr val="dk1"/>
              </a:buClr>
              <a:buSzPts val="2400"/>
              <a:buNone/>
            </a:pPr>
            <a:r>
              <a:t/>
            </a:r>
            <a:endParaRPr sz="3400">
              <a:solidFill>
                <a:schemeClr val="lt1"/>
              </a:solidFill>
              <a:latin typeface="Merriweather"/>
              <a:ea typeface="Merriweather"/>
              <a:cs typeface="Merriweather"/>
              <a:sym typeface="Merriweather"/>
            </a:endParaRPr>
          </a:p>
        </p:txBody>
      </p:sp>
      <p:pic>
        <p:nvPicPr>
          <p:cNvPr id="72" name="Google Shape;72;p1"/>
          <p:cNvPicPr preferRelativeResize="0"/>
          <p:nvPr/>
        </p:nvPicPr>
        <p:blipFill rotWithShape="1">
          <a:blip r:embed="rId3">
            <a:alphaModFix/>
          </a:blip>
          <a:srcRect b="29278" l="0" r="0" t="27042"/>
          <a:stretch/>
        </p:blipFill>
        <p:spPr>
          <a:xfrm>
            <a:off x="2852525" y="565818"/>
            <a:ext cx="6071798" cy="1389524"/>
          </a:xfrm>
          <a:prstGeom prst="rect">
            <a:avLst/>
          </a:prstGeom>
          <a:noFill/>
          <a:ln>
            <a:noFill/>
          </a:ln>
        </p:spPr>
      </p:pic>
      <p:pic>
        <p:nvPicPr>
          <p:cNvPr id="73" name="Google Shape;73;p1" title="AKASA presentation intro .mp3">
            <a:hlinkClick r:id="rId4"/>
          </p:cNvPr>
          <p:cNvPicPr preferRelativeResize="0"/>
          <p:nvPr/>
        </p:nvPicPr>
        <p:blipFill>
          <a:blip r:embed="rId5">
            <a:alphaModFix/>
          </a:blip>
          <a:stretch>
            <a:fillRect/>
          </a:stretch>
        </p:blipFill>
        <p:spPr>
          <a:xfrm>
            <a:off x="175125" y="167418"/>
            <a:ext cx="457200" cy="457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g3efdb8892bd_1_554" title="Akasa (2).png"/>
          <p:cNvPicPr preferRelativeResize="0"/>
          <p:nvPr/>
        </p:nvPicPr>
        <p:blipFill rotWithShape="1">
          <a:blip r:embed="rId3">
            <a:alphaModFix/>
          </a:blip>
          <a:srcRect b="130" l="0" r="0" t="130"/>
          <a:stretch/>
        </p:blipFill>
        <p:spPr>
          <a:xfrm>
            <a:off x="1694400" y="0"/>
            <a:ext cx="9521014" cy="6858001"/>
          </a:xfrm>
          <a:prstGeom prst="rect">
            <a:avLst/>
          </a:prstGeom>
          <a:noFill/>
          <a:ln>
            <a:noFill/>
          </a:ln>
        </p:spPr>
      </p:pic>
      <p:pic>
        <p:nvPicPr>
          <p:cNvPr id="79" name="Google Shape;79;g3efdb8892bd_1_554" title="Lean Canvas recording 3.mp3">
            <a:hlinkClick r:id="rId4"/>
          </p:cNvPr>
          <p:cNvPicPr preferRelativeResize="0"/>
          <p:nvPr/>
        </p:nvPicPr>
        <p:blipFill>
          <a:blip r:embed="rId5">
            <a:alphaModFix/>
          </a:blip>
          <a:stretch>
            <a:fillRect/>
          </a:stretch>
        </p:blipFill>
        <p:spPr>
          <a:xfrm>
            <a:off x="152400" y="152400"/>
            <a:ext cx="45720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efc474de77_4_35"/>
          <p:cNvSpPr txBox="1"/>
          <p:nvPr>
            <p:ph type="title"/>
          </p:nvPr>
        </p:nvSpPr>
        <p:spPr>
          <a:xfrm>
            <a:off x="747375" y="387850"/>
            <a:ext cx="11295600" cy="19845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Company Structure</a:t>
            </a:r>
            <a:endParaRPr/>
          </a:p>
        </p:txBody>
      </p:sp>
      <p:sp>
        <p:nvSpPr>
          <p:cNvPr id="85" name="Google Shape;85;g3efc474de77_4_35"/>
          <p:cNvSpPr txBox="1"/>
          <p:nvPr>
            <p:ph idx="1" type="body"/>
          </p:nvPr>
        </p:nvSpPr>
        <p:spPr>
          <a:xfrm>
            <a:off x="838200" y="2621838"/>
            <a:ext cx="10515600" cy="40074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000"/>
              </a:spcBef>
              <a:spcAft>
                <a:spcPts val="0"/>
              </a:spcAft>
              <a:buSzPts val="2200"/>
              <a:buFont typeface="Times New Roman"/>
              <a:buChar char="●"/>
            </a:pPr>
            <a:r>
              <a:rPr lang="en-US" sz="2200">
                <a:latin typeface="Times New Roman"/>
                <a:ea typeface="Times New Roman"/>
                <a:cs typeface="Times New Roman"/>
                <a:sym typeface="Times New Roman"/>
              </a:rPr>
              <a:t>Privately Owned,</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Founded in 2018</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Funded by private investors and partnership</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US" sz="2200">
                <a:latin typeface="Times New Roman"/>
                <a:ea typeface="Times New Roman"/>
                <a:cs typeface="Times New Roman"/>
                <a:sym typeface="Times New Roman"/>
              </a:rPr>
              <a:t>Operates in US (CA, NYC, Remote) </a:t>
            </a:r>
            <a:endParaRPr sz="2200">
              <a:latin typeface="Times New Roman"/>
              <a:ea typeface="Times New Roman"/>
              <a:cs typeface="Times New Roman"/>
              <a:sym typeface="Times New Roman"/>
            </a:endParaRPr>
          </a:p>
          <a:p>
            <a:pPr indent="0" lvl="0" marL="0" rtl="0" algn="l">
              <a:spcBef>
                <a:spcPts val="1600"/>
              </a:spcBef>
              <a:spcAft>
                <a:spcPts val="0"/>
              </a:spcAft>
              <a:buNone/>
            </a:pPr>
            <a:r>
              <a:t/>
            </a:r>
            <a:endParaRPr sz="2200">
              <a:latin typeface="Times New Roman"/>
              <a:ea typeface="Times New Roman"/>
              <a:cs typeface="Times New Roman"/>
              <a:sym typeface="Times New Roman"/>
            </a:endParaRPr>
          </a:p>
          <a:p>
            <a:pPr indent="0" lvl="0" marL="457200" rtl="0" algn="l">
              <a:spcBef>
                <a:spcPts val="1600"/>
              </a:spcBef>
              <a:spcAft>
                <a:spcPts val="1600"/>
              </a:spcAft>
              <a:buNone/>
            </a:pPr>
            <a:r>
              <a:t/>
            </a:r>
            <a:endParaRPr sz="2200">
              <a:latin typeface="Times New Roman"/>
              <a:ea typeface="Times New Roman"/>
              <a:cs typeface="Times New Roman"/>
              <a:sym typeface="Times New Roman"/>
            </a:endParaRPr>
          </a:p>
        </p:txBody>
      </p:sp>
      <p:pic>
        <p:nvPicPr>
          <p:cNvPr id="86" name="Google Shape;86;g3efc474de77_4_35" title="Company Structure.mp3">
            <a:hlinkClick r:id="rId3"/>
          </p:cNvPr>
          <p:cNvPicPr preferRelativeResize="0"/>
          <p:nvPr/>
        </p:nvPicPr>
        <p:blipFill>
          <a:blip r:embed="rId4">
            <a:alphaModFix/>
          </a:blip>
          <a:stretch>
            <a:fillRect/>
          </a:stretch>
        </p:blipFill>
        <p:spPr>
          <a:xfrm>
            <a:off x="152400" y="152400"/>
            <a:ext cx="442575" cy="442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efc474de77_4_0"/>
          <p:cNvSpPr txBox="1"/>
          <p:nvPr>
            <p:ph type="title"/>
          </p:nvPr>
        </p:nvSpPr>
        <p:spPr>
          <a:xfrm>
            <a:off x="838200" y="210344"/>
            <a:ext cx="11353800" cy="13257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Leadership Team </a:t>
            </a:r>
            <a:endParaRPr/>
          </a:p>
        </p:txBody>
      </p:sp>
      <p:sp>
        <p:nvSpPr>
          <p:cNvPr id="92" name="Google Shape;92;g3efc474de77_4_0"/>
          <p:cNvSpPr txBox="1"/>
          <p:nvPr>
            <p:ph idx="1" type="body"/>
          </p:nvPr>
        </p:nvSpPr>
        <p:spPr>
          <a:xfrm>
            <a:off x="838200" y="1315950"/>
            <a:ext cx="10831200" cy="5430600"/>
          </a:xfrm>
          <a:prstGeom prst="rect">
            <a:avLst/>
          </a:prstGeom>
        </p:spPr>
        <p:txBody>
          <a:bodyPr anchorCtr="0" anchor="t" bIns="45700" lIns="91425" spcFirstLastPara="1" rIns="91425" wrap="square" tIns="45700">
            <a:normAutofit fontScale="62500" lnSpcReduction="20000"/>
          </a:bodyPr>
          <a:lstStyle/>
          <a:p>
            <a:pPr indent="0" lvl="0" marL="0" rtl="0" algn="l">
              <a:lnSpc>
                <a:spcPct val="115000"/>
              </a:lnSpc>
              <a:spcBef>
                <a:spcPts val="1000"/>
              </a:spcBef>
              <a:spcAft>
                <a:spcPts val="0"/>
              </a:spcAft>
              <a:buNone/>
            </a:pPr>
            <a:r>
              <a:t/>
            </a:r>
            <a:endParaRPr sz="2800">
              <a:latin typeface="Times New Roman"/>
              <a:ea typeface="Times New Roman"/>
              <a:cs typeface="Times New Roman"/>
              <a:sym typeface="Times New Roman"/>
            </a:endParaRPr>
          </a:p>
          <a:p>
            <a:pPr indent="-339725" lvl="0" marL="457200" rtl="0" algn="l">
              <a:lnSpc>
                <a:spcPct val="115000"/>
              </a:lnSpc>
              <a:spcBef>
                <a:spcPts val="1600"/>
              </a:spcBef>
              <a:spcAft>
                <a:spcPts val="0"/>
              </a:spcAft>
              <a:buSzPct val="100000"/>
              <a:buFont typeface="Times New Roman"/>
              <a:buChar char="●"/>
            </a:pPr>
            <a:r>
              <a:rPr lang="en-US" sz="2800">
                <a:latin typeface="Times New Roman"/>
                <a:ea typeface="Times New Roman"/>
                <a:cs typeface="Times New Roman"/>
                <a:sym typeface="Times New Roman"/>
              </a:rPr>
              <a:t>Founders</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Malinka Walaliyadde (CEO)</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Andy Atwal (VP)</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Varun Ganapathi (VP Engineering &amp; Advisor)</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Ben Beadle Ryby (Chief Revenue Officer)</a:t>
            </a:r>
            <a:endParaRPr sz="2800">
              <a:latin typeface="Times New Roman"/>
              <a:ea typeface="Times New Roman"/>
              <a:cs typeface="Times New Roman"/>
              <a:sym typeface="Times New Roman"/>
            </a:endParaRPr>
          </a:p>
          <a:p>
            <a:pPr indent="-339725" lvl="0" marL="4572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Board Members</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Julie Yoo </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Noah Knauf </a:t>
            </a:r>
            <a:endParaRPr sz="2800">
              <a:latin typeface="Times New Roman"/>
              <a:ea typeface="Times New Roman"/>
              <a:cs typeface="Times New Roman"/>
              <a:sym typeface="Times New Roman"/>
            </a:endParaRPr>
          </a:p>
          <a:p>
            <a:pPr indent="-339725" lvl="0" marL="4572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Advisor</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Toby Cosgrove</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Frank Williams</a:t>
            </a:r>
            <a:endParaRPr sz="2800">
              <a:latin typeface="Times New Roman"/>
              <a:ea typeface="Times New Roman"/>
              <a:cs typeface="Times New Roman"/>
              <a:sym typeface="Times New Roman"/>
            </a:endParaRPr>
          </a:p>
          <a:p>
            <a:pPr indent="-339725" lvl="0" marL="4572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Finance &amp; Operations</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Amy Raymond</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Ryan Roland</a:t>
            </a:r>
            <a:endParaRPr sz="2800">
              <a:latin typeface="Times New Roman"/>
              <a:ea typeface="Times New Roman"/>
              <a:cs typeface="Times New Roman"/>
              <a:sym typeface="Times New Roman"/>
            </a:endParaRPr>
          </a:p>
          <a:p>
            <a:pPr indent="-339725" lvl="1" marL="914400" rtl="0" algn="l">
              <a:lnSpc>
                <a:spcPct val="115000"/>
              </a:lnSpc>
              <a:spcBef>
                <a:spcPts val="0"/>
              </a:spcBef>
              <a:spcAft>
                <a:spcPts val="0"/>
              </a:spcAft>
              <a:buSzPct val="100000"/>
              <a:buFont typeface="Times New Roman"/>
              <a:buChar char="○"/>
            </a:pPr>
            <a:r>
              <a:rPr lang="en-US" sz="2800">
                <a:latin typeface="Times New Roman"/>
                <a:ea typeface="Times New Roman"/>
                <a:cs typeface="Times New Roman"/>
                <a:sym typeface="Times New Roman"/>
              </a:rPr>
              <a:t>Zach Barrett</a:t>
            </a:r>
            <a:endParaRPr sz="2800">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sz="2200">
              <a:latin typeface="Times New Roman"/>
              <a:ea typeface="Times New Roman"/>
              <a:cs typeface="Times New Roman"/>
              <a:sym typeface="Times New Roman"/>
            </a:endParaRPr>
          </a:p>
          <a:p>
            <a:pPr indent="0" lvl="0" marL="457200" rtl="0" algn="l">
              <a:lnSpc>
                <a:spcPct val="115000"/>
              </a:lnSpc>
              <a:spcBef>
                <a:spcPts val="1600"/>
              </a:spcBef>
              <a:spcAft>
                <a:spcPts val="1600"/>
              </a:spcAft>
              <a:buNone/>
            </a:pPr>
            <a:r>
              <a:t/>
            </a:r>
            <a:endParaRPr sz="2200">
              <a:latin typeface="Times New Roman"/>
              <a:ea typeface="Times New Roman"/>
              <a:cs typeface="Times New Roman"/>
              <a:sym typeface="Times New Roman"/>
            </a:endParaRPr>
          </a:p>
        </p:txBody>
      </p:sp>
      <p:pic>
        <p:nvPicPr>
          <p:cNvPr id="93" name="Google Shape;93;g3efc474de77_4_0"/>
          <p:cNvPicPr preferRelativeResize="0"/>
          <p:nvPr/>
        </p:nvPicPr>
        <p:blipFill>
          <a:blip r:embed="rId3">
            <a:alphaModFix/>
          </a:blip>
          <a:stretch>
            <a:fillRect/>
          </a:stretch>
        </p:blipFill>
        <p:spPr>
          <a:xfrm>
            <a:off x="6821725" y="1426050"/>
            <a:ext cx="4796550" cy="4005900"/>
          </a:xfrm>
          <a:prstGeom prst="rect">
            <a:avLst/>
          </a:prstGeom>
          <a:noFill/>
          <a:ln>
            <a:noFill/>
          </a:ln>
        </p:spPr>
      </p:pic>
      <p:pic>
        <p:nvPicPr>
          <p:cNvPr id="94" name="Google Shape;94;g3efc474de77_4_0" title="Leadership.mp3">
            <a:hlinkClick r:id="rId4"/>
          </p:cNvPr>
          <p:cNvPicPr preferRelativeResize="0"/>
          <p:nvPr/>
        </p:nvPicPr>
        <p:blipFill>
          <a:blip r:embed="rId5">
            <a:alphaModFix/>
          </a:blip>
          <a:stretch>
            <a:fillRect/>
          </a:stretch>
        </p:blipFill>
        <p:spPr>
          <a:xfrm>
            <a:off x="152400" y="152400"/>
            <a:ext cx="45720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efc474de77_4_5"/>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What healthcare problem are they trying to solve? How?</a:t>
            </a:r>
            <a:endParaRPr sz="5800"/>
          </a:p>
        </p:txBody>
      </p:sp>
      <p:sp>
        <p:nvSpPr>
          <p:cNvPr id="100" name="Google Shape;100;g3efc474de77_4_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85000" lnSpcReduction="20000"/>
          </a:bodyPr>
          <a:lstStyle/>
          <a:p>
            <a:pPr indent="0" lvl="0" marL="0" rtl="0" algn="l">
              <a:lnSpc>
                <a:spcPct val="142857"/>
              </a:lnSpc>
              <a:spcBef>
                <a:spcPts val="1100"/>
              </a:spcBef>
              <a:spcAft>
                <a:spcPts val="0"/>
              </a:spcAft>
              <a:buNone/>
            </a:pPr>
            <a:r>
              <a:rPr b="1" lang="en-US" sz="2468"/>
              <a:t>T</a:t>
            </a:r>
            <a:r>
              <a:rPr b="1" lang="en-US" sz="2468"/>
              <a:t>he Problem</a:t>
            </a:r>
            <a:endParaRPr b="1" sz="2468"/>
          </a:p>
          <a:p>
            <a:pPr indent="-350044" lvl="0" marL="457200" rtl="0" algn="l">
              <a:lnSpc>
                <a:spcPct val="115000"/>
              </a:lnSpc>
              <a:spcBef>
                <a:spcPts val="1100"/>
              </a:spcBef>
              <a:spcAft>
                <a:spcPts val="0"/>
              </a:spcAft>
              <a:buSzPct val="100000"/>
              <a:buChar char="●"/>
            </a:pPr>
            <a:r>
              <a:rPr lang="en-US" sz="2250"/>
              <a:t>Hospitals spend a lot of time on </a:t>
            </a:r>
            <a:r>
              <a:rPr b="1" lang="en-US" sz="2250"/>
              <a:t>billing, coding,</a:t>
            </a:r>
            <a:r>
              <a:rPr lang="en-US" sz="2250"/>
              <a:t> </a:t>
            </a:r>
            <a:r>
              <a:rPr b="1" lang="en-US" sz="2250"/>
              <a:t>and insurance tasks</a:t>
            </a:r>
            <a:endParaRPr b="1" sz="2250"/>
          </a:p>
          <a:p>
            <a:pPr indent="-350044" lvl="0" marL="457200" rtl="0" algn="l">
              <a:lnSpc>
                <a:spcPct val="115000"/>
              </a:lnSpc>
              <a:spcBef>
                <a:spcPts val="0"/>
              </a:spcBef>
              <a:spcAft>
                <a:spcPts val="0"/>
              </a:spcAft>
              <a:buSzPct val="100000"/>
              <a:buChar char="●"/>
            </a:pPr>
            <a:r>
              <a:rPr lang="en-US" sz="2250"/>
              <a:t>Work is </a:t>
            </a:r>
            <a:r>
              <a:rPr b="1" lang="en-US" sz="2250"/>
              <a:t>complex, slow, and error-prone</a:t>
            </a:r>
            <a:endParaRPr b="1" sz="2250"/>
          </a:p>
          <a:p>
            <a:pPr indent="-350044" lvl="0" marL="457200" rtl="0" algn="l">
              <a:lnSpc>
                <a:spcPct val="115000"/>
              </a:lnSpc>
              <a:spcBef>
                <a:spcPts val="0"/>
              </a:spcBef>
              <a:spcAft>
                <a:spcPts val="0"/>
              </a:spcAft>
              <a:buSzPct val="100000"/>
              <a:buChar char="●"/>
            </a:pPr>
            <a:r>
              <a:rPr b="1" lang="en-US" sz="2250"/>
              <a:t>Staff shortages</a:t>
            </a:r>
            <a:r>
              <a:rPr lang="en-US" sz="2250"/>
              <a:t> make it harder to keep up</a:t>
            </a:r>
            <a:endParaRPr sz="2250"/>
          </a:p>
          <a:p>
            <a:pPr indent="0" lvl="0" marL="0" rtl="0" algn="l">
              <a:lnSpc>
                <a:spcPct val="142857"/>
              </a:lnSpc>
              <a:spcBef>
                <a:spcPts val="1100"/>
              </a:spcBef>
              <a:spcAft>
                <a:spcPts val="0"/>
              </a:spcAft>
              <a:buNone/>
            </a:pPr>
            <a:r>
              <a:t/>
            </a:r>
            <a:endParaRPr b="1" sz="1050"/>
          </a:p>
          <a:p>
            <a:pPr indent="0" lvl="0" marL="0" rtl="0" algn="l">
              <a:lnSpc>
                <a:spcPct val="142857"/>
              </a:lnSpc>
              <a:spcBef>
                <a:spcPts val="1100"/>
              </a:spcBef>
              <a:spcAft>
                <a:spcPts val="0"/>
              </a:spcAft>
              <a:buNone/>
            </a:pPr>
            <a:r>
              <a:rPr b="1" lang="en-US" sz="2468"/>
              <a:t>AKASA’s Solution</a:t>
            </a:r>
            <a:endParaRPr b="1" sz="2468"/>
          </a:p>
          <a:p>
            <a:pPr indent="-351794" lvl="0" marL="457200" rtl="0" algn="l">
              <a:lnSpc>
                <a:spcPct val="115000"/>
              </a:lnSpc>
              <a:spcBef>
                <a:spcPts val="1100"/>
              </a:spcBef>
              <a:spcAft>
                <a:spcPts val="0"/>
              </a:spcAft>
              <a:buSzPct val="100000"/>
              <a:buChar char="●"/>
            </a:pPr>
            <a:r>
              <a:rPr lang="en-US" sz="2282"/>
              <a:t>Uses </a:t>
            </a:r>
            <a:r>
              <a:rPr b="1" lang="en-US" sz="2282"/>
              <a:t>AI to automate administrative work</a:t>
            </a:r>
            <a:endParaRPr b="1" sz="2282"/>
          </a:p>
          <a:p>
            <a:pPr indent="-351794" lvl="0" marL="457200" rtl="0" algn="l">
              <a:lnSpc>
                <a:spcPct val="115000"/>
              </a:lnSpc>
              <a:spcBef>
                <a:spcPts val="0"/>
              </a:spcBef>
              <a:spcAft>
                <a:spcPts val="0"/>
              </a:spcAft>
              <a:buSzPct val="100000"/>
              <a:buChar char="●"/>
            </a:pPr>
            <a:r>
              <a:rPr b="1" lang="en-US" sz="2282"/>
              <a:t>Reads patient records</a:t>
            </a:r>
            <a:endParaRPr b="1" sz="2282"/>
          </a:p>
          <a:p>
            <a:pPr indent="-351794" lvl="0" marL="457200" rtl="0" algn="l">
              <a:lnSpc>
                <a:spcPct val="115000"/>
              </a:lnSpc>
              <a:spcBef>
                <a:spcPts val="0"/>
              </a:spcBef>
              <a:spcAft>
                <a:spcPts val="0"/>
              </a:spcAft>
              <a:buSzPct val="100000"/>
              <a:buChar char="●"/>
            </a:pPr>
            <a:r>
              <a:rPr b="1" lang="en-US" sz="2282"/>
              <a:t>Assigns accurate medical codes</a:t>
            </a:r>
            <a:endParaRPr b="1" sz="2282"/>
          </a:p>
          <a:p>
            <a:pPr indent="-351794" lvl="0" marL="457200" rtl="0" algn="l">
              <a:lnSpc>
                <a:spcPct val="115000"/>
              </a:lnSpc>
              <a:spcBef>
                <a:spcPts val="0"/>
              </a:spcBef>
              <a:spcAft>
                <a:spcPts val="0"/>
              </a:spcAft>
              <a:buSzPct val="100000"/>
              <a:buChar char="●"/>
            </a:pPr>
            <a:r>
              <a:rPr b="1" lang="en-US" sz="2282"/>
              <a:t>Helps with insurance approvals</a:t>
            </a:r>
            <a:endParaRPr b="1" sz="2282"/>
          </a:p>
          <a:p>
            <a:pPr indent="-351794" lvl="0" marL="457200" rtl="0" algn="l">
              <a:lnSpc>
                <a:spcPct val="115000"/>
              </a:lnSpc>
              <a:spcBef>
                <a:spcPts val="0"/>
              </a:spcBef>
              <a:spcAft>
                <a:spcPts val="0"/>
              </a:spcAft>
              <a:buSzPct val="100000"/>
              <a:buChar char="●"/>
            </a:pPr>
            <a:r>
              <a:rPr b="1" lang="en-US" sz="2282"/>
              <a:t>Catches errors before claims are sent</a:t>
            </a:r>
            <a:endParaRPr b="1" sz="2282"/>
          </a:p>
          <a:p>
            <a:pPr indent="0" lvl="0" marL="914400" rtl="0" algn="l">
              <a:spcBef>
                <a:spcPts val="1100"/>
              </a:spcBef>
              <a:spcAft>
                <a:spcPts val="1600"/>
              </a:spcAft>
              <a:buNone/>
            </a:pPr>
            <a:r>
              <a:t/>
            </a:r>
            <a:endParaRPr sz="1700"/>
          </a:p>
        </p:txBody>
      </p:sp>
      <p:pic>
        <p:nvPicPr>
          <p:cNvPr descr="a cartoon character with a mustache and the words problem solved behind him (Provided by Tenor)" id="101" name="Google Shape;101;g3efc474de77_4_5"/>
          <p:cNvPicPr preferRelativeResize="0"/>
          <p:nvPr/>
        </p:nvPicPr>
        <p:blipFill>
          <a:blip r:embed="rId3">
            <a:alphaModFix/>
          </a:blip>
          <a:stretch>
            <a:fillRect/>
          </a:stretch>
        </p:blipFill>
        <p:spPr>
          <a:xfrm>
            <a:off x="7851249" y="2379209"/>
            <a:ext cx="3946628" cy="4351200"/>
          </a:xfrm>
          <a:prstGeom prst="rect">
            <a:avLst/>
          </a:prstGeom>
          <a:noFill/>
          <a:ln>
            <a:noFill/>
          </a:ln>
        </p:spPr>
      </p:pic>
      <p:pic>
        <p:nvPicPr>
          <p:cNvPr id="102" name="Google Shape;102;g3efc474de77_4_5" title="question2.mp3">
            <a:hlinkClick r:id="rId4"/>
          </p:cNvPr>
          <p:cNvPicPr preferRelativeResize="0"/>
          <p:nvPr/>
        </p:nvPicPr>
        <p:blipFill>
          <a:blip r:embed="rId5">
            <a:alphaModFix/>
          </a:blip>
          <a:stretch>
            <a:fillRect/>
          </a:stretch>
        </p:blipFill>
        <p:spPr>
          <a:xfrm>
            <a:off x="221675" y="290925"/>
            <a:ext cx="348350" cy="348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efc474de77_0_1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Estimated Funds and</a:t>
            </a:r>
            <a:r>
              <a:rPr lang="en-US" sz="2800">
                <a:latin typeface="Arial"/>
                <a:ea typeface="Arial"/>
                <a:cs typeface="Arial"/>
                <a:sym typeface="Arial"/>
              </a:rPr>
              <a:t> </a:t>
            </a:r>
            <a:r>
              <a:rPr lang="en-US"/>
              <a:t>Revenue</a:t>
            </a:r>
            <a:endParaRPr/>
          </a:p>
        </p:txBody>
      </p:sp>
      <p:sp>
        <p:nvSpPr>
          <p:cNvPr id="108" name="Google Shape;108;g3efc474de77_0_10"/>
          <p:cNvSpPr txBox="1"/>
          <p:nvPr>
            <p:ph idx="1" type="body"/>
          </p:nvPr>
        </p:nvSpPr>
        <p:spPr>
          <a:xfrm>
            <a:off x="653150" y="1550550"/>
            <a:ext cx="7671300" cy="4885500"/>
          </a:xfrm>
          <a:prstGeom prst="rect">
            <a:avLst/>
          </a:prstGeom>
        </p:spPr>
        <p:txBody>
          <a:bodyPr anchorCtr="0" anchor="t" bIns="45700" lIns="91425" spcFirstLastPara="1" rIns="91425" wrap="square" tIns="45700">
            <a:normAutofit/>
          </a:bodyPr>
          <a:lstStyle/>
          <a:p>
            <a:pPr indent="0" lvl="0" marL="0" rtl="0" algn="l">
              <a:lnSpc>
                <a:spcPct val="80000"/>
              </a:lnSpc>
              <a:spcBef>
                <a:spcPts val="1000"/>
              </a:spcBef>
              <a:spcAft>
                <a:spcPts val="0"/>
              </a:spcAft>
              <a:buNone/>
            </a:pPr>
            <a:r>
              <a:t/>
            </a:r>
            <a:endParaRPr sz="2400"/>
          </a:p>
          <a:p>
            <a:pPr indent="0" lvl="0" marL="0" rtl="0" algn="l">
              <a:lnSpc>
                <a:spcPct val="80000"/>
              </a:lnSpc>
              <a:spcBef>
                <a:spcPts val="1600"/>
              </a:spcBef>
              <a:spcAft>
                <a:spcPts val="0"/>
              </a:spcAft>
              <a:buNone/>
            </a:pPr>
            <a:r>
              <a:rPr b="1" lang="en-US" sz="2400"/>
              <a:t>Estimated Funds</a:t>
            </a:r>
            <a:endParaRPr b="1" sz="2400"/>
          </a:p>
          <a:p>
            <a:pPr indent="-317500" lvl="0" marL="457200" rtl="0" algn="l">
              <a:lnSpc>
                <a:spcPct val="80000"/>
              </a:lnSpc>
              <a:spcBef>
                <a:spcPts val="1600"/>
              </a:spcBef>
              <a:spcAft>
                <a:spcPts val="0"/>
              </a:spcAft>
              <a:buSzPts val="1400"/>
              <a:buChar char="●"/>
            </a:pPr>
            <a:r>
              <a:rPr lang="en-US" sz="2400"/>
              <a:t>CBInsights: </a:t>
            </a:r>
            <a:r>
              <a:rPr b="1" lang="en-US" sz="2400"/>
              <a:t>$205M total funding raised</a:t>
            </a:r>
            <a:endParaRPr b="1" sz="2400"/>
          </a:p>
          <a:p>
            <a:pPr indent="-317500" lvl="0" marL="457200" rtl="0" algn="l">
              <a:lnSpc>
                <a:spcPct val="80000"/>
              </a:lnSpc>
              <a:spcBef>
                <a:spcPts val="0"/>
              </a:spcBef>
              <a:spcAft>
                <a:spcPts val="0"/>
              </a:spcAft>
              <a:buSzPts val="1400"/>
              <a:buChar char="●"/>
            </a:pPr>
            <a:r>
              <a:rPr b="1" lang="en-US" sz="2400"/>
              <a:t>$120M Series C (2024)</a:t>
            </a:r>
            <a:endParaRPr b="1" sz="2400"/>
          </a:p>
          <a:p>
            <a:pPr indent="0" lvl="0" marL="0" rtl="0" algn="l">
              <a:lnSpc>
                <a:spcPct val="80000"/>
              </a:lnSpc>
              <a:spcBef>
                <a:spcPts val="1600"/>
              </a:spcBef>
              <a:spcAft>
                <a:spcPts val="0"/>
              </a:spcAft>
              <a:buNone/>
            </a:pPr>
            <a:r>
              <a:t/>
            </a:r>
            <a:endParaRPr b="1" sz="2400"/>
          </a:p>
          <a:p>
            <a:pPr indent="0" lvl="0" marL="0" rtl="0" algn="l">
              <a:lnSpc>
                <a:spcPct val="80000"/>
              </a:lnSpc>
              <a:spcBef>
                <a:spcPts val="1600"/>
              </a:spcBef>
              <a:spcAft>
                <a:spcPts val="0"/>
              </a:spcAft>
              <a:buNone/>
            </a:pPr>
            <a:r>
              <a:rPr b="1" lang="en-US" sz="2400"/>
              <a:t>Estimated Revenue</a:t>
            </a:r>
            <a:endParaRPr b="1" sz="2400"/>
          </a:p>
          <a:p>
            <a:pPr indent="-317500" lvl="0" marL="457200" rtl="0" algn="l">
              <a:lnSpc>
                <a:spcPct val="80000"/>
              </a:lnSpc>
              <a:spcBef>
                <a:spcPts val="1600"/>
              </a:spcBef>
              <a:spcAft>
                <a:spcPts val="0"/>
              </a:spcAft>
              <a:buSzPts val="1400"/>
              <a:buChar char="●"/>
            </a:pPr>
            <a:r>
              <a:rPr lang="en-US" sz="2400"/>
              <a:t>LeadIQ: </a:t>
            </a:r>
            <a:r>
              <a:rPr b="1" lang="en-US" sz="2400"/>
              <a:t>~$3.1M Annual Revenue</a:t>
            </a:r>
            <a:endParaRPr b="1" sz="2400"/>
          </a:p>
          <a:p>
            <a:pPr indent="0" lvl="0" marL="0" rtl="0" algn="l">
              <a:lnSpc>
                <a:spcPct val="80000"/>
              </a:lnSpc>
              <a:spcBef>
                <a:spcPts val="1600"/>
              </a:spcBef>
              <a:spcAft>
                <a:spcPts val="0"/>
              </a:spcAft>
              <a:buNone/>
            </a:pPr>
            <a:r>
              <a:t/>
            </a:r>
            <a:endParaRPr b="1" sz="2400"/>
          </a:p>
          <a:p>
            <a:pPr indent="0" lvl="0" marL="0" rtl="0" algn="l">
              <a:lnSpc>
                <a:spcPct val="80000"/>
              </a:lnSpc>
              <a:spcBef>
                <a:spcPts val="1600"/>
              </a:spcBef>
              <a:spcAft>
                <a:spcPts val="0"/>
              </a:spcAft>
              <a:buNone/>
            </a:pPr>
            <a:r>
              <a:rPr b="1" lang="en-US" sz="2400"/>
              <a:t>Executive Strength and </a:t>
            </a:r>
            <a:r>
              <a:rPr b="1" lang="en-US" sz="2400"/>
              <a:t>Positioning (ESP)</a:t>
            </a:r>
            <a:r>
              <a:rPr b="1" lang="en-US" sz="2400"/>
              <a:t> </a:t>
            </a:r>
            <a:endParaRPr b="1" sz="2400"/>
          </a:p>
          <a:p>
            <a:pPr indent="-317500" lvl="0" marL="457200" rtl="0" algn="l">
              <a:lnSpc>
                <a:spcPct val="80000"/>
              </a:lnSpc>
              <a:spcBef>
                <a:spcPts val="1600"/>
              </a:spcBef>
              <a:spcAft>
                <a:spcPts val="0"/>
              </a:spcAft>
              <a:buSzPts val="1400"/>
              <a:buChar char="●"/>
            </a:pPr>
            <a:r>
              <a:rPr lang="en-US" sz="2400"/>
              <a:t>CB Insights: </a:t>
            </a:r>
            <a:r>
              <a:rPr b="1" lang="en-US" sz="2400"/>
              <a:t>“Highflier” among 15 companies </a:t>
            </a:r>
            <a:endParaRPr b="1" sz="2400"/>
          </a:p>
        </p:txBody>
      </p:sp>
      <p:pic>
        <p:nvPicPr>
          <p:cNvPr descr="a man in a suit and scarf is kneeling down while money is falling from the sky (Provided by Tenor)" id="109" name="Google Shape;109;g3efc474de77_0_10"/>
          <p:cNvPicPr preferRelativeResize="0"/>
          <p:nvPr/>
        </p:nvPicPr>
        <p:blipFill>
          <a:blip r:embed="rId3">
            <a:alphaModFix/>
          </a:blip>
          <a:stretch>
            <a:fillRect/>
          </a:stretch>
        </p:blipFill>
        <p:spPr>
          <a:xfrm>
            <a:off x="7310975" y="2021300"/>
            <a:ext cx="4743450" cy="4743450"/>
          </a:xfrm>
          <a:prstGeom prst="rect">
            <a:avLst/>
          </a:prstGeom>
          <a:noFill/>
          <a:ln>
            <a:noFill/>
          </a:ln>
        </p:spPr>
      </p:pic>
      <p:pic>
        <p:nvPicPr>
          <p:cNvPr id="110" name="Google Shape;110;g3efc474de77_0_10" title="quesiton6.mp3">
            <a:hlinkClick r:id="rId4"/>
          </p:cNvPr>
          <p:cNvPicPr preferRelativeResize="0"/>
          <p:nvPr/>
        </p:nvPicPr>
        <p:blipFill>
          <a:blip r:embed="rId5">
            <a:alphaModFix/>
          </a:blip>
          <a:stretch>
            <a:fillRect/>
          </a:stretch>
        </p:blipFill>
        <p:spPr>
          <a:xfrm>
            <a:off x="249375" y="166250"/>
            <a:ext cx="348350" cy="34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efc474de77_0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Partnerships and Investors</a:t>
            </a:r>
            <a:endParaRPr/>
          </a:p>
        </p:txBody>
      </p:sp>
      <p:sp>
        <p:nvSpPr>
          <p:cNvPr id="116" name="Google Shape;116;g3efc474de77_0_5"/>
          <p:cNvSpPr txBox="1"/>
          <p:nvPr>
            <p:ph idx="1" type="body"/>
          </p:nvPr>
        </p:nvSpPr>
        <p:spPr>
          <a:xfrm>
            <a:off x="785775" y="1433375"/>
            <a:ext cx="10515600" cy="4764300"/>
          </a:xfrm>
          <a:prstGeom prst="rect">
            <a:avLst/>
          </a:prstGeom>
        </p:spPr>
        <p:txBody>
          <a:bodyPr anchorCtr="0" anchor="t" bIns="45700" lIns="91425" spcFirstLastPara="1" rIns="91425" wrap="square" tIns="45700">
            <a:normAutofit lnSpcReduction="10000"/>
          </a:bodyPr>
          <a:lstStyle/>
          <a:p>
            <a:pPr indent="457200" lvl="0" marL="0" rtl="0" algn="l">
              <a:lnSpc>
                <a:spcPct val="115000"/>
              </a:lnSpc>
              <a:spcBef>
                <a:spcPts val="0"/>
              </a:spcBef>
              <a:spcAft>
                <a:spcPts val="0"/>
              </a:spcAft>
              <a:buNone/>
            </a:pPr>
            <a:r>
              <a:t/>
            </a:r>
            <a:endParaRPr b="1" sz="2400"/>
          </a:p>
          <a:p>
            <a:pPr indent="457200" lvl="0" marL="0" rtl="0" algn="l">
              <a:lnSpc>
                <a:spcPct val="115000"/>
              </a:lnSpc>
              <a:spcBef>
                <a:spcPts val="800"/>
              </a:spcBef>
              <a:spcAft>
                <a:spcPts val="0"/>
              </a:spcAft>
              <a:buNone/>
            </a:pPr>
            <a:r>
              <a:rPr b="1" lang="en-US" sz="2400"/>
              <a:t>Partnerships</a:t>
            </a:r>
            <a:endParaRPr/>
          </a:p>
          <a:p>
            <a:pPr indent="457200" lvl="0" marL="457200" rtl="0" algn="l">
              <a:lnSpc>
                <a:spcPct val="115000"/>
              </a:lnSpc>
              <a:spcBef>
                <a:spcPts val="800"/>
              </a:spcBef>
              <a:spcAft>
                <a:spcPts val="0"/>
              </a:spcAft>
              <a:buNone/>
            </a:pPr>
            <a:r>
              <a:rPr lang="en-US" sz="2400"/>
              <a:t>Cleveland Clinic</a:t>
            </a:r>
            <a:endParaRPr/>
          </a:p>
          <a:p>
            <a:pPr indent="0" lvl="0" marL="457200" rtl="0" algn="l">
              <a:lnSpc>
                <a:spcPct val="115000"/>
              </a:lnSpc>
              <a:spcBef>
                <a:spcPts val="800"/>
              </a:spcBef>
              <a:spcAft>
                <a:spcPts val="0"/>
              </a:spcAft>
              <a:buNone/>
            </a:pPr>
            <a:r>
              <a:rPr b="1" lang="en-US" sz="2400"/>
              <a:t>Investors</a:t>
            </a:r>
            <a:endParaRPr b="1" sz="2400"/>
          </a:p>
          <a:p>
            <a:pPr indent="0" lvl="0" marL="457200" rtl="0" algn="l">
              <a:lnSpc>
                <a:spcPct val="115000"/>
              </a:lnSpc>
              <a:spcBef>
                <a:spcPts val="800"/>
              </a:spcBef>
              <a:spcAft>
                <a:spcPts val="0"/>
              </a:spcAft>
              <a:buNone/>
            </a:pPr>
            <a:r>
              <a:rPr b="1" lang="en-US" sz="2400"/>
              <a:t>	</a:t>
            </a:r>
            <a:r>
              <a:rPr lang="en-US" sz="2400"/>
              <a:t>Patient Square Capital</a:t>
            </a:r>
            <a:endParaRPr sz="2400"/>
          </a:p>
          <a:p>
            <a:pPr indent="0" lvl="0" marL="457200" rtl="0" algn="l">
              <a:lnSpc>
                <a:spcPct val="115000"/>
              </a:lnSpc>
              <a:spcBef>
                <a:spcPts val="800"/>
              </a:spcBef>
              <a:spcAft>
                <a:spcPts val="0"/>
              </a:spcAft>
              <a:buNone/>
            </a:pPr>
            <a:r>
              <a:rPr lang="en-US"/>
              <a:t>	</a:t>
            </a:r>
            <a:r>
              <a:rPr lang="en-US" sz="2400"/>
              <a:t>Andreessen</a:t>
            </a:r>
            <a:r>
              <a:rPr lang="en-US" sz="2400"/>
              <a:t> Horowitz (a16z)</a:t>
            </a:r>
            <a:endParaRPr sz="2400"/>
          </a:p>
          <a:p>
            <a:pPr indent="0" lvl="0" marL="457200" rtl="0" algn="l">
              <a:lnSpc>
                <a:spcPct val="115000"/>
              </a:lnSpc>
              <a:spcBef>
                <a:spcPts val="800"/>
              </a:spcBef>
              <a:spcAft>
                <a:spcPts val="0"/>
              </a:spcAft>
              <a:buNone/>
            </a:pPr>
            <a:r>
              <a:rPr lang="en-US" sz="2400"/>
              <a:t>	BOND </a:t>
            </a:r>
            <a:r>
              <a:rPr lang="en-US" sz="2400"/>
              <a:t>Capital</a:t>
            </a:r>
            <a:endParaRPr sz="2400"/>
          </a:p>
          <a:p>
            <a:pPr indent="0" lvl="0" marL="457200" rtl="0" algn="l">
              <a:lnSpc>
                <a:spcPct val="115000"/>
              </a:lnSpc>
              <a:spcBef>
                <a:spcPts val="800"/>
              </a:spcBef>
              <a:spcAft>
                <a:spcPts val="0"/>
              </a:spcAft>
              <a:buNone/>
            </a:pPr>
            <a:r>
              <a:rPr lang="en-US" sz="2400"/>
              <a:t>	Costanoa Ventures</a:t>
            </a:r>
            <a:endParaRPr sz="2400"/>
          </a:p>
          <a:p>
            <a:pPr indent="0" lvl="0" marL="457200" rtl="0" algn="l">
              <a:lnSpc>
                <a:spcPct val="115000"/>
              </a:lnSpc>
              <a:spcBef>
                <a:spcPts val="800"/>
              </a:spcBef>
              <a:spcAft>
                <a:spcPts val="0"/>
              </a:spcAft>
              <a:buNone/>
            </a:pPr>
            <a:r>
              <a:rPr lang="en-US" sz="2400"/>
              <a:t>	Jim Momtazee</a:t>
            </a:r>
            <a:endParaRPr sz="2400"/>
          </a:p>
          <a:p>
            <a:pPr indent="0" lvl="0" marL="0" rtl="0" algn="l">
              <a:lnSpc>
                <a:spcPct val="115000"/>
              </a:lnSpc>
              <a:spcBef>
                <a:spcPts val="800"/>
              </a:spcBef>
              <a:spcAft>
                <a:spcPts val="800"/>
              </a:spcAft>
              <a:buNone/>
            </a:pPr>
            <a:r>
              <a:rPr lang="en-US"/>
              <a:t>	</a:t>
            </a:r>
            <a:endParaRPr/>
          </a:p>
        </p:txBody>
      </p:sp>
      <p:pic>
        <p:nvPicPr>
          <p:cNvPr id="117" name="Google Shape;117;g3efc474de77_0_5"/>
          <p:cNvPicPr preferRelativeResize="0"/>
          <p:nvPr/>
        </p:nvPicPr>
        <p:blipFill>
          <a:blip r:embed="rId3">
            <a:alphaModFix/>
          </a:blip>
          <a:stretch>
            <a:fillRect/>
          </a:stretch>
        </p:blipFill>
        <p:spPr>
          <a:xfrm>
            <a:off x="6900825" y="1918625"/>
            <a:ext cx="4210050" cy="3429000"/>
          </a:xfrm>
          <a:prstGeom prst="rect">
            <a:avLst/>
          </a:prstGeom>
          <a:noFill/>
          <a:ln>
            <a:noFill/>
          </a:ln>
        </p:spPr>
      </p:pic>
      <p:pic>
        <p:nvPicPr>
          <p:cNvPr id="118" name="Google Shape;118;g3efc474de77_0_5" title="AKASA_Partnerships_&amp;_Investors.mp3">
            <a:hlinkClick r:id="rId4"/>
          </p:cNvPr>
          <p:cNvPicPr preferRelativeResize="0"/>
          <p:nvPr/>
        </p:nvPicPr>
        <p:blipFill>
          <a:blip r:embed="rId5">
            <a:alphaModFix/>
          </a:blip>
          <a:stretch>
            <a:fillRect/>
          </a:stretch>
        </p:blipFill>
        <p:spPr>
          <a:xfrm>
            <a:off x="307900" y="557325"/>
            <a:ext cx="355525" cy="355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efc474de77_4_15"/>
          <p:cNvSpPr txBox="1"/>
          <p:nvPr>
            <p:ph type="title"/>
          </p:nvPr>
        </p:nvSpPr>
        <p:spPr>
          <a:xfrm>
            <a:off x="624050" y="365125"/>
            <a:ext cx="10729800" cy="981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Platform Solutions</a:t>
            </a:r>
            <a:endParaRPr/>
          </a:p>
        </p:txBody>
      </p:sp>
      <p:pic>
        <p:nvPicPr>
          <p:cNvPr id="124" name="Google Shape;124;g3efc474de77_4_15"/>
          <p:cNvPicPr preferRelativeResize="0"/>
          <p:nvPr/>
        </p:nvPicPr>
        <p:blipFill>
          <a:blip r:embed="rId3">
            <a:alphaModFix/>
          </a:blip>
          <a:stretch>
            <a:fillRect/>
          </a:stretch>
        </p:blipFill>
        <p:spPr>
          <a:xfrm>
            <a:off x="6432852" y="365125"/>
            <a:ext cx="5663923" cy="4870250"/>
          </a:xfrm>
          <a:prstGeom prst="rect">
            <a:avLst/>
          </a:prstGeom>
          <a:noFill/>
          <a:ln>
            <a:noFill/>
          </a:ln>
        </p:spPr>
      </p:pic>
      <p:sp>
        <p:nvSpPr>
          <p:cNvPr id="125" name="Google Shape;125;g3efc474de77_4_15"/>
          <p:cNvSpPr txBox="1"/>
          <p:nvPr>
            <p:ph idx="1" type="body"/>
          </p:nvPr>
        </p:nvSpPr>
        <p:spPr>
          <a:xfrm>
            <a:off x="476250" y="1170225"/>
            <a:ext cx="7252500" cy="5592600"/>
          </a:xfrm>
          <a:prstGeom prst="rect">
            <a:avLst/>
          </a:prstGeom>
        </p:spPr>
        <p:txBody>
          <a:bodyPr anchorCtr="0" anchor="t" bIns="45700" lIns="91425" spcFirstLastPara="1" rIns="91425" wrap="square" tIns="45700">
            <a:normAutofit fontScale="85000" lnSpcReduction="20000"/>
          </a:bodyPr>
          <a:lstStyle/>
          <a:p>
            <a:pPr indent="0" lvl="0" marL="0" rtl="0" algn="l">
              <a:lnSpc>
                <a:spcPct val="115000"/>
              </a:lnSpc>
              <a:spcBef>
                <a:spcPts val="1400"/>
              </a:spcBef>
              <a:spcAft>
                <a:spcPts val="0"/>
              </a:spcAft>
              <a:buClr>
                <a:schemeClr val="dk1"/>
              </a:buClr>
              <a:buSzPct val="84615"/>
              <a:buFont typeface="Arial"/>
              <a:buNone/>
            </a:pPr>
            <a:r>
              <a:t/>
            </a:r>
            <a:endParaRPr b="1" sz="1300"/>
          </a:p>
          <a:p>
            <a:pPr indent="-358140" lvl="0" marL="457200" rtl="0" algn="l">
              <a:lnSpc>
                <a:spcPct val="115000"/>
              </a:lnSpc>
              <a:spcBef>
                <a:spcPts val="1200"/>
              </a:spcBef>
              <a:spcAft>
                <a:spcPts val="0"/>
              </a:spcAft>
              <a:buSzPct val="100000"/>
              <a:buAutoNum type="arabicPeriod"/>
            </a:pPr>
            <a:r>
              <a:rPr b="1" lang="en-US" sz="2400"/>
              <a:t>Prebill Optimization Suite</a:t>
            </a:r>
            <a:endParaRPr b="1"/>
          </a:p>
          <a:p>
            <a:pPr indent="-320357" lvl="1" marL="914400" rtl="0" algn="l">
              <a:lnSpc>
                <a:spcPct val="115000"/>
              </a:lnSpc>
              <a:spcBef>
                <a:spcPts val="0"/>
              </a:spcBef>
              <a:spcAft>
                <a:spcPts val="0"/>
              </a:spcAft>
              <a:buSzPct val="113333"/>
              <a:buChar char="○"/>
            </a:pPr>
            <a:r>
              <a:rPr lang="en-US"/>
              <a:t>Custom LLM</a:t>
            </a:r>
            <a:endParaRPr/>
          </a:p>
          <a:p>
            <a:pPr indent="-320357" lvl="1" marL="914400" rtl="0" algn="l">
              <a:lnSpc>
                <a:spcPct val="115000"/>
              </a:lnSpc>
              <a:spcBef>
                <a:spcPts val="0"/>
              </a:spcBef>
              <a:spcAft>
                <a:spcPts val="0"/>
              </a:spcAft>
              <a:buSzPct val="113333"/>
              <a:buChar char="○"/>
            </a:pPr>
            <a:r>
              <a:rPr lang="en-US"/>
              <a:t>Flag documentation gaps and missed codes</a:t>
            </a:r>
            <a:endParaRPr/>
          </a:p>
          <a:p>
            <a:pPr indent="-320357" lvl="1" marL="914400" rtl="0" algn="l">
              <a:lnSpc>
                <a:spcPct val="115000"/>
              </a:lnSpc>
              <a:spcBef>
                <a:spcPts val="0"/>
              </a:spcBef>
              <a:spcAft>
                <a:spcPts val="0"/>
              </a:spcAft>
              <a:buSzPct val="113333"/>
              <a:buChar char="○"/>
            </a:pPr>
            <a:r>
              <a:rPr lang="en-US"/>
              <a:t>Actionable Recommendations</a:t>
            </a:r>
            <a:endParaRPr/>
          </a:p>
          <a:p>
            <a:pPr indent="-358140" lvl="0" marL="457200" rtl="0" algn="l">
              <a:lnSpc>
                <a:spcPct val="115000"/>
              </a:lnSpc>
              <a:spcBef>
                <a:spcPts val="0"/>
              </a:spcBef>
              <a:spcAft>
                <a:spcPts val="0"/>
              </a:spcAft>
              <a:buSzPct val="100000"/>
              <a:buAutoNum type="arabicPeriod"/>
            </a:pPr>
            <a:r>
              <a:rPr b="1" lang="en-US" sz="2400"/>
              <a:t>Coding Optimizer</a:t>
            </a:r>
            <a:endParaRPr b="1" sz="2400"/>
          </a:p>
          <a:p>
            <a:pPr indent="-320357" lvl="1" marL="914400" rtl="0" algn="l">
              <a:lnSpc>
                <a:spcPct val="115000"/>
              </a:lnSpc>
              <a:spcBef>
                <a:spcPts val="0"/>
              </a:spcBef>
              <a:spcAft>
                <a:spcPts val="0"/>
              </a:spcAft>
              <a:buSzPct val="113333"/>
              <a:buChar char="○"/>
            </a:pPr>
            <a:r>
              <a:rPr lang="en-US"/>
              <a:t>Identify documentation gaps</a:t>
            </a:r>
            <a:endParaRPr/>
          </a:p>
          <a:p>
            <a:pPr indent="-320357" lvl="1" marL="914400" rtl="0" algn="l">
              <a:lnSpc>
                <a:spcPct val="115000"/>
              </a:lnSpc>
              <a:spcBef>
                <a:spcPts val="0"/>
              </a:spcBef>
              <a:spcAft>
                <a:spcPts val="0"/>
              </a:spcAft>
              <a:buSzPct val="113333"/>
              <a:buChar char="○"/>
            </a:pPr>
            <a:r>
              <a:rPr lang="en-US"/>
              <a:t>Identify missed revenue</a:t>
            </a:r>
            <a:endParaRPr/>
          </a:p>
          <a:p>
            <a:pPr indent="-320357" lvl="1" marL="914400" rtl="0" algn="l">
              <a:lnSpc>
                <a:spcPct val="115000"/>
              </a:lnSpc>
              <a:spcBef>
                <a:spcPts val="0"/>
              </a:spcBef>
              <a:spcAft>
                <a:spcPts val="0"/>
              </a:spcAft>
              <a:buSzPct val="113333"/>
              <a:buChar char="○"/>
            </a:pPr>
            <a:r>
              <a:rPr lang="en-US"/>
              <a:t>quality metric</a:t>
            </a:r>
            <a:endParaRPr/>
          </a:p>
          <a:p>
            <a:pPr indent="-320357" lvl="1" marL="914400" rtl="0" algn="l">
              <a:lnSpc>
                <a:spcPct val="115000"/>
              </a:lnSpc>
              <a:spcBef>
                <a:spcPts val="0"/>
              </a:spcBef>
              <a:spcAft>
                <a:spcPts val="0"/>
              </a:spcAft>
              <a:buSzPct val="113333"/>
              <a:buChar char="○"/>
            </a:pPr>
            <a:r>
              <a:rPr lang="en-US"/>
              <a:t>denial and </a:t>
            </a:r>
            <a:r>
              <a:rPr lang="en-US"/>
              <a:t>compliance</a:t>
            </a:r>
            <a:r>
              <a:rPr lang="en-US"/>
              <a:t> risks</a:t>
            </a:r>
            <a:endParaRPr/>
          </a:p>
          <a:p>
            <a:pPr indent="-320357" lvl="1" marL="914400" rtl="0" algn="l">
              <a:lnSpc>
                <a:spcPct val="115000"/>
              </a:lnSpc>
              <a:spcBef>
                <a:spcPts val="0"/>
              </a:spcBef>
              <a:spcAft>
                <a:spcPts val="0"/>
              </a:spcAft>
              <a:buSzPct val="113333"/>
              <a:buChar char="○"/>
            </a:pPr>
            <a:r>
              <a:rPr lang="en-US"/>
              <a:t>approve codes with confidence</a:t>
            </a:r>
            <a:endParaRPr/>
          </a:p>
          <a:p>
            <a:pPr indent="-358140" lvl="0" marL="457200" rtl="0" algn="l">
              <a:lnSpc>
                <a:spcPct val="115000"/>
              </a:lnSpc>
              <a:spcBef>
                <a:spcPts val="0"/>
              </a:spcBef>
              <a:spcAft>
                <a:spcPts val="0"/>
              </a:spcAft>
              <a:buSzPct val="100000"/>
              <a:buAutoNum type="arabicPeriod"/>
            </a:pPr>
            <a:r>
              <a:rPr b="1" lang="en-US" sz="2400"/>
              <a:t>CDI Optimizer</a:t>
            </a:r>
            <a:endParaRPr b="1" sz="2400"/>
          </a:p>
          <a:p>
            <a:pPr indent="-320357" lvl="1" marL="914400" rtl="0" algn="l">
              <a:lnSpc>
                <a:spcPct val="115000"/>
              </a:lnSpc>
              <a:spcBef>
                <a:spcPts val="0"/>
              </a:spcBef>
              <a:spcAft>
                <a:spcPts val="0"/>
              </a:spcAft>
              <a:buSzPct val="113333"/>
              <a:buChar char="○"/>
            </a:pPr>
            <a:r>
              <a:rPr lang="en-US"/>
              <a:t>Dashboard to identify and prioritize DRG,impact and quality indicators</a:t>
            </a:r>
            <a:endParaRPr/>
          </a:p>
          <a:p>
            <a:pPr indent="-320357" lvl="1" marL="914400" rtl="0" algn="l">
              <a:lnSpc>
                <a:spcPct val="115000"/>
              </a:lnSpc>
              <a:spcBef>
                <a:spcPts val="0"/>
              </a:spcBef>
              <a:spcAft>
                <a:spcPts val="0"/>
              </a:spcAft>
              <a:buSzPct val="113333"/>
              <a:buChar char="○"/>
            </a:pPr>
            <a:r>
              <a:rPr lang="en-US"/>
              <a:t>Quick access to quotes and links to </a:t>
            </a:r>
            <a:r>
              <a:rPr lang="en-US"/>
              <a:t>clinical</a:t>
            </a:r>
            <a:r>
              <a:rPr lang="en-US"/>
              <a:t> documentation</a:t>
            </a:r>
            <a:endParaRPr/>
          </a:p>
          <a:p>
            <a:pPr indent="-320357" lvl="1" marL="914400" rtl="0" algn="l">
              <a:lnSpc>
                <a:spcPct val="115000"/>
              </a:lnSpc>
              <a:spcBef>
                <a:spcPts val="0"/>
              </a:spcBef>
              <a:spcAft>
                <a:spcPts val="0"/>
              </a:spcAft>
              <a:buSzPct val="70833"/>
              <a:buChar char="○"/>
            </a:pPr>
            <a:r>
              <a:rPr lang="en-US"/>
              <a:t>Embedded coding guidelines, codebooks, and streamline clinical validation process.</a:t>
            </a:r>
            <a:endParaRPr sz="2400"/>
          </a:p>
          <a:p>
            <a:pPr indent="-358140" lvl="0" marL="457200" rtl="0" algn="l">
              <a:lnSpc>
                <a:spcPct val="115000"/>
              </a:lnSpc>
              <a:spcBef>
                <a:spcPts val="0"/>
              </a:spcBef>
              <a:spcAft>
                <a:spcPts val="0"/>
              </a:spcAft>
              <a:buSzPct val="100000"/>
              <a:buAutoNum type="arabicPeriod"/>
            </a:pPr>
            <a:r>
              <a:rPr b="1" lang="en-US" sz="2400"/>
              <a:t>Auth Status</a:t>
            </a:r>
            <a:endParaRPr b="1" sz="2400"/>
          </a:p>
          <a:p>
            <a:pPr indent="-320357" lvl="1" marL="914400" rtl="0" algn="l">
              <a:lnSpc>
                <a:spcPct val="115000"/>
              </a:lnSpc>
              <a:spcBef>
                <a:spcPts val="0"/>
              </a:spcBef>
              <a:spcAft>
                <a:spcPts val="0"/>
              </a:spcAft>
              <a:buSzPct val="70833"/>
              <a:buChar char="○"/>
            </a:pPr>
            <a:r>
              <a:rPr lang="en-US"/>
              <a:t>optimizing</a:t>
            </a:r>
            <a:r>
              <a:rPr lang="en-US"/>
              <a:t> prior authorization requests and documentation of results.</a:t>
            </a:r>
            <a:endParaRPr sz="2400"/>
          </a:p>
          <a:p>
            <a:pPr indent="-358140" lvl="0" marL="457200" rtl="0" algn="l">
              <a:lnSpc>
                <a:spcPct val="115000"/>
              </a:lnSpc>
              <a:spcBef>
                <a:spcPts val="0"/>
              </a:spcBef>
              <a:spcAft>
                <a:spcPts val="0"/>
              </a:spcAft>
              <a:buSzPct val="100000"/>
              <a:buAutoNum type="arabicPeriod"/>
            </a:pPr>
            <a:r>
              <a:rPr b="1" lang="en-US" sz="2400"/>
              <a:t>Claim Status</a:t>
            </a:r>
            <a:endParaRPr b="1" sz="2400"/>
          </a:p>
          <a:p>
            <a:pPr indent="-320357" lvl="1" marL="914400" rtl="0" algn="l">
              <a:lnSpc>
                <a:spcPct val="115000"/>
              </a:lnSpc>
              <a:spcBef>
                <a:spcPts val="0"/>
              </a:spcBef>
              <a:spcAft>
                <a:spcPts val="0"/>
              </a:spcAft>
              <a:buSzPct val="113333"/>
              <a:buChar char="○"/>
            </a:pPr>
            <a:r>
              <a:rPr lang="en-US"/>
              <a:t>optimizing claims processing by prioritizing follow-up and problematic accounts</a:t>
            </a:r>
            <a:endParaRPr/>
          </a:p>
          <a:p>
            <a:pPr indent="-358140" lvl="0" marL="457200" rtl="0" algn="l">
              <a:lnSpc>
                <a:spcPct val="115000"/>
              </a:lnSpc>
              <a:spcBef>
                <a:spcPts val="0"/>
              </a:spcBef>
              <a:spcAft>
                <a:spcPts val="0"/>
              </a:spcAft>
              <a:buSzPct val="100000"/>
              <a:buAutoNum type="arabicPeriod"/>
            </a:pPr>
            <a:r>
              <a:rPr b="1" lang="en-US" sz="2400"/>
              <a:t>AI Advisor</a:t>
            </a:r>
            <a:endParaRPr b="1" sz="2400"/>
          </a:p>
          <a:p>
            <a:pPr indent="-320357" lvl="1" marL="914400" rtl="0" algn="l">
              <a:lnSpc>
                <a:spcPct val="115000"/>
              </a:lnSpc>
              <a:spcBef>
                <a:spcPts val="0"/>
              </a:spcBef>
              <a:spcAft>
                <a:spcPts val="0"/>
              </a:spcAft>
              <a:buSzPct val="113333"/>
              <a:buChar char="○"/>
            </a:pPr>
            <a:r>
              <a:rPr lang="en-US"/>
              <a:t>provides NLP support the revenue cycle team to answer clinical questions more efficiently</a:t>
            </a:r>
            <a:endParaRPr/>
          </a:p>
        </p:txBody>
      </p:sp>
      <p:pic>
        <p:nvPicPr>
          <p:cNvPr id="126" name="Google Shape;126;g3efc474de77_4_15" title="AKASA_platform_solutions.mp3">
            <a:hlinkClick r:id="rId4"/>
          </p:cNvPr>
          <p:cNvPicPr preferRelativeResize="0"/>
          <p:nvPr/>
        </p:nvPicPr>
        <p:blipFill>
          <a:blip r:embed="rId5">
            <a:alphaModFix/>
          </a:blip>
          <a:stretch>
            <a:fillRect/>
          </a:stretch>
        </p:blipFill>
        <p:spPr>
          <a:xfrm>
            <a:off x="85400" y="166899"/>
            <a:ext cx="4572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fc474de77_4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lnSpc>
                <a:spcPct val="100000"/>
              </a:lnSpc>
              <a:spcBef>
                <a:spcPts val="0"/>
              </a:spcBef>
              <a:spcAft>
                <a:spcPts val="0"/>
              </a:spcAft>
              <a:buNone/>
            </a:pPr>
            <a:r>
              <a:rPr b="1" lang="en-US"/>
              <a:t>S</a:t>
            </a:r>
            <a:r>
              <a:rPr lang="en-US"/>
              <a:t>oftware </a:t>
            </a:r>
            <a:r>
              <a:rPr b="1" lang="en-US"/>
              <a:t>A</a:t>
            </a:r>
            <a:r>
              <a:rPr lang="en-US"/>
              <a:t>s </a:t>
            </a:r>
            <a:r>
              <a:rPr b="1" lang="en-US"/>
              <a:t>A</a:t>
            </a:r>
            <a:r>
              <a:rPr b="1" lang="en-US"/>
              <a:t> S</a:t>
            </a:r>
            <a:r>
              <a:rPr lang="en-US"/>
              <a:t>ervice Subscription Options</a:t>
            </a:r>
            <a:endParaRPr/>
          </a:p>
        </p:txBody>
      </p:sp>
      <p:sp>
        <p:nvSpPr>
          <p:cNvPr id="132" name="Google Shape;132;g3efc474de77_4_25"/>
          <p:cNvSpPr txBox="1"/>
          <p:nvPr>
            <p:ph idx="1" type="body"/>
          </p:nvPr>
        </p:nvSpPr>
        <p:spPr>
          <a:xfrm>
            <a:off x="838200" y="1825625"/>
            <a:ext cx="62634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b="1" sz="2400"/>
          </a:p>
          <a:p>
            <a:pPr indent="0" lvl="0" marL="0" rtl="0" algn="l">
              <a:spcBef>
                <a:spcPts val="1600"/>
              </a:spcBef>
              <a:spcAft>
                <a:spcPts val="0"/>
              </a:spcAft>
              <a:buNone/>
            </a:pPr>
            <a:r>
              <a:rPr lang="en-US" sz="2400"/>
              <a:t>Enterprise contracts </a:t>
            </a:r>
            <a:endParaRPr sz="2400"/>
          </a:p>
          <a:p>
            <a:pPr indent="0" lvl="0" marL="0" rtl="0" algn="l">
              <a:spcBef>
                <a:spcPts val="1600"/>
              </a:spcBef>
              <a:spcAft>
                <a:spcPts val="0"/>
              </a:spcAft>
              <a:buNone/>
            </a:pPr>
            <a:r>
              <a:rPr lang="en-US" sz="2400"/>
              <a:t>Volume Based Subscriptions</a:t>
            </a:r>
            <a:endParaRPr sz="2400"/>
          </a:p>
          <a:p>
            <a:pPr indent="0" lvl="0" marL="0" rtl="0" algn="l">
              <a:spcBef>
                <a:spcPts val="1600"/>
              </a:spcBef>
              <a:spcAft>
                <a:spcPts val="0"/>
              </a:spcAft>
              <a:buNone/>
            </a:pPr>
            <a:r>
              <a:rPr lang="en-US" sz="2400"/>
              <a:t>Transaction Fee for High-value flows</a:t>
            </a:r>
            <a:endParaRPr sz="2400"/>
          </a:p>
          <a:p>
            <a:pPr indent="0" lvl="0" marL="0" rtl="0" algn="l">
              <a:spcBef>
                <a:spcPts val="1600"/>
              </a:spcBef>
              <a:spcAft>
                <a:spcPts val="0"/>
              </a:spcAft>
              <a:buClr>
                <a:schemeClr val="dk1"/>
              </a:buClr>
              <a:buSzPts val="1100"/>
              <a:buFont typeface="Arial"/>
              <a:buNone/>
            </a:pPr>
            <a:r>
              <a:rPr lang="en-US" sz="2400"/>
              <a:t>Performance Aligned fees</a:t>
            </a:r>
            <a:endParaRPr sz="2400"/>
          </a:p>
          <a:p>
            <a:pPr indent="0" lvl="0" marL="0" rtl="0" algn="l">
              <a:spcBef>
                <a:spcPts val="1600"/>
              </a:spcBef>
              <a:spcAft>
                <a:spcPts val="0"/>
              </a:spcAft>
              <a:buNone/>
            </a:pPr>
            <a:r>
              <a:rPr lang="en-US" sz="2400"/>
              <a:t>Professional Services</a:t>
            </a:r>
            <a:endParaRPr sz="1800"/>
          </a:p>
          <a:p>
            <a:pPr indent="0" lvl="0" marL="1371600" rtl="0" algn="l">
              <a:spcBef>
                <a:spcPts val="1600"/>
              </a:spcBef>
              <a:spcAft>
                <a:spcPts val="1600"/>
              </a:spcAft>
              <a:buNone/>
            </a:pPr>
            <a:r>
              <a:t/>
            </a:r>
            <a:endParaRPr/>
          </a:p>
        </p:txBody>
      </p:sp>
      <p:pic>
        <p:nvPicPr>
          <p:cNvPr id="133" name="Google Shape;133;g3efc474de77_4_25"/>
          <p:cNvPicPr preferRelativeResize="0"/>
          <p:nvPr/>
        </p:nvPicPr>
        <p:blipFill>
          <a:blip r:embed="rId3">
            <a:alphaModFix/>
          </a:blip>
          <a:stretch>
            <a:fillRect/>
          </a:stretch>
        </p:blipFill>
        <p:spPr>
          <a:xfrm>
            <a:off x="6546475" y="1690828"/>
            <a:ext cx="4807325" cy="2824303"/>
          </a:xfrm>
          <a:prstGeom prst="rect">
            <a:avLst/>
          </a:prstGeom>
          <a:noFill/>
          <a:ln>
            <a:noFill/>
          </a:ln>
        </p:spPr>
      </p:pic>
      <p:pic>
        <p:nvPicPr>
          <p:cNvPr id="134" name="Google Shape;134;g3efc474de77_4_25" title="AKASA_Business_Service_Models.mp3">
            <a:hlinkClick r:id="rId4"/>
          </p:cNvPr>
          <p:cNvPicPr preferRelativeResize="0"/>
          <p:nvPr/>
        </p:nvPicPr>
        <p:blipFill>
          <a:blip r:embed="rId5">
            <a:alphaModFix/>
          </a:blip>
          <a:stretch>
            <a:fillRect/>
          </a:stretch>
        </p:blipFill>
        <p:spPr>
          <a:xfrm>
            <a:off x="246200" y="214957"/>
            <a:ext cx="457200"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fcdea223b_1_17"/>
          <p:cNvSpPr txBox="1"/>
          <p:nvPr>
            <p:ph type="title"/>
          </p:nvPr>
        </p:nvSpPr>
        <p:spPr>
          <a:xfrm>
            <a:off x="756550" y="365125"/>
            <a:ext cx="10515600" cy="1325700"/>
          </a:xfrm>
          <a:prstGeom prst="rect">
            <a:avLst/>
          </a:prstGeom>
        </p:spPr>
        <p:txBody>
          <a:bodyPr anchorCtr="0" anchor="ctr" bIns="45700" lIns="91425" spcFirstLastPara="1" rIns="91425" wrap="square" tIns="45700">
            <a:normAutofit/>
          </a:bodyPr>
          <a:lstStyle/>
          <a:p>
            <a:pPr indent="0" lvl="0" marL="0" rtl="0" algn="ctr">
              <a:lnSpc>
                <a:spcPct val="100000"/>
              </a:lnSpc>
              <a:spcBef>
                <a:spcPts val="0"/>
              </a:spcBef>
              <a:spcAft>
                <a:spcPts val="0"/>
              </a:spcAft>
              <a:buNone/>
            </a:pPr>
            <a:r>
              <a:rPr lang="en-US"/>
              <a:t>Conceptual Architecture</a:t>
            </a:r>
            <a:endParaRPr/>
          </a:p>
        </p:txBody>
      </p:sp>
      <p:sp>
        <p:nvSpPr>
          <p:cNvPr id="140" name="Google Shape;140;g3efcdea223b_1_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1371600" rtl="0" algn="l">
              <a:spcBef>
                <a:spcPts val="1000"/>
              </a:spcBef>
              <a:spcAft>
                <a:spcPts val="1600"/>
              </a:spcAft>
              <a:buNone/>
            </a:pPr>
            <a:r>
              <a:t/>
            </a:r>
            <a:endParaRPr/>
          </a:p>
        </p:txBody>
      </p:sp>
      <p:pic>
        <p:nvPicPr>
          <p:cNvPr id="141" name="Google Shape;141;g3efcdea223b_1_17"/>
          <p:cNvPicPr preferRelativeResize="0"/>
          <p:nvPr/>
        </p:nvPicPr>
        <p:blipFill>
          <a:blip r:embed="rId3">
            <a:alphaModFix/>
          </a:blip>
          <a:stretch>
            <a:fillRect/>
          </a:stretch>
        </p:blipFill>
        <p:spPr>
          <a:xfrm>
            <a:off x="804725" y="1291250"/>
            <a:ext cx="10515601" cy="5566751"/>
          </a:xfrm>
          <a:prstGeom prst="rect">
            <a:avLst/>
          </a:prstGeom>
          <a:noFill/>
          <a:ln>
            <a:noFill/>
          </a:ln>
        </p:spPr>
      </p:pic>
      <p:pic>
        <p:nvPicPr>
          <p:cNvPr id="142" name="Google Shape;142;g3efcdea223b_1_17" title="AKASA_Technology_Stack.mp3">
            <a:hlinkClick r:id="rId4"/>
          </p:cNvPr>
          <p:cNvPicPr preferRelativeResize="0"/>
          <p:nvPr/>
        </p:nvPicPr>
        <p:blipFill>
          <a:blip r:embed="rId5">
            <a:alphaModFix/>
          </a:blip>
          <a:stretch>
            <a:fillRect/>
          </a:stretch>
        </p:blipFill>
        <p:spPr>
          <a:xfrm>
            <a:off x="527100" y="267750"/>
            <a:ext cx="45720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efc474de77_4_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4000"/>
              <a:t>Who are their major competitors?</a:t>
            </a:r>
            <a:endParaRPr b="1" sz="7200"/>
          </a:p>
        </p:txBody>
      </p:sp>
      <p:sp>
        <p:nvSpPr>
          <p:cNvPr id="148" name="Google Shape;148;g3efc474de77_4_2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200"/>
              <a:t>AKASA’s primary competitors consist of R1, Thoughtful AI, and Infinitus. These three companies compete in providing similar services and products for healthcare revenue cycle management.</a:t>
            </a:r>
            <a:endParaRPr sz="2000"/>
          </a:p>
          <a:p>
            <a:pPr indent="0" lvl="0" marL="0" rtl="0" algn="l">
              <a:spcBef>
                <a:spcPts val="1600"/>
              </a:spcBef>
              <a:spcAft>
                <a:spcPts val="0"/>
              </a:spcAft>
              <a:buNone/>
            </a:pPr>
            <a:r>
              <a:t/>
            </a:r>
            <a:endParaRPr sz="1800"/>
          </a:p>
          <a:p>
            <a:pPr indent="0" lvl="0" marL="0" rtl="0" algn="l">
              <a:spcBef>
                <a:spcPts val="1600"/>
              </a:spcBef>
              <a:spcAft>
                <a:spcPts val="0"/>
              </a:spcAft>
              <a:buNone/>
            </a:pPr>
            <a:r>
              <a:rPr lang="en-US" sz="1800"/>
              <a:t>R1 RCM</a:t>
            </a:r>
            <a:endParaRPr sz="1800"/>
          </a:p>
          <a:p>
            <a:pPr indent="0" lvl="0" marL="0" rtl="0" algn="l">
              <a:spcBef>
                <a:spcPts val="1600"/>
              </a:spcBef>
              <a:spcAft>
                <a:spcPts val="0"/>
              </a:spcAft>
              <a:buNone/>
            </a:pPr>
            <a:r>
              <a:t/>
            </a:r>
            <a:endParaRPr sz="1800"/>
          </a:p>
          <a:p>
            <a:pPr indent="0" lvl="0" marL="0" rtl="0" algn="l">
              <a:spcBef>
                <a:spcPts val="1600"/>
              </a:spcBef>
              <a:spcAft>
                <a:spcPts val="0"/>
              </a:spcAft>
              <a:buNone/>
            </a:pPr>
            <a:r>
              <a:rPr lang="en-US" sz="1800"/>
              <a:t>Thoughtful</a:t>
            </a:r>
            <a:r>
              <a:rPr lang="en-US" sz="1800"/>
              <a:t> Ai</a:t>
            </a:r>
            <a:endParaRPr sz="1800"/>
          </a:p>
          <a:p>
            <a:pPr indent="0" lvl="0" marL="0" rtl="0" algn="l">
              <a:spcBef>
                <a:spcPts val="1600"/>
              </a:spcBef>
              <a:spcAft>
                <a:spcPts val="0"/>
              </a:spcAft>
              <a:buNone/>
            </a:pPr>
            <a:r>
              <a:t/>
            </a:r>
            <a:endParaRPr sz="1800"/>
          </a:p>
          <a:p>
            <a:pPr indent="0" lvl="0" marL="0" rtl="0" algn="l">
              <a:spcBef>
                <a:spcPts val="1600"/>
              </a:spcBef>
              <a:spcAft>
                <a:spcPts val="1600"/>
              </a:spcAft>
              <a:buNone/>
            </a:pPr>
            <a:r>
              <a:rPr lang="en-US" sz="1800"/>
              <a:t>Infinitus</a:t>
            </a:r>
            <a:endParaRPr sz="1800"/>
          </a:p>
        </p:txBody>
      </p:sp>
      <p:pic>
        <p:nvPicPr>
          <p:cNvPr id="149" name="Google Shape;149;g3efc474de77_4_20"/>
          <p:cNvPicPr preferRelativeResize="0"/>
          <p:nvPr/>
        </p:nvPicPr>
        <p:blipFill>
          <a:blip r:embed="rId3">
            <a:alphaModFix/>
          </a:blip>
          <a:stretch>
            <a:fillRect/>
          </a:stretch>
        </p:blipFill>
        <p:spPr>
          <a:xfrm>
            <a:off x="3395150" y="4371375"/>
            <a:ext cx="3097600" cy="1263226"/>
          </a:xfrm>
          <a:prstGeom prst="rect">
            <a:avLst/>
          </a:prstGeom>
          <a:noFill/>
          <a:ln>
            <a:noFill/>
          </a:ln>
        </p:spPr>
      </p:pic>
      <p:pic>
        <p:nvPicPr>
          <p:cNvPr id="150" name="Google Shape;150;g3efc474de77_4_20"/>
          <p:cNvPicPr preferRelativeResize="0"/>
          <p:nvPr/>
        </p:nvPicPr>
        <p:blipFill rotWithShape="1">
          <a:blip r:embed="rId4">
            <a:alphaModFix/>
          </a:blip>
          <a:srcRect b="32252" l="0" r="0" t="31203"/>
          <a:stretch/>
        </p:blipFill>
        <p:spPr>
          <a:xfrm>
            <a:off x="5058075" y="3057025"/>
            <a:ext cx="6070126" cy="1109175"/>
          </a:xfrm>
          <a:prstGeom prst="rect">
            <a:avLst/>
          </a:prstGeom>
          <a:noFill/>
          <a:ln>
            <a:noFill/>
          </a:ln>
        </p:spPr>
      </p:pic>
      <p:pic>
        <p:nvPicPr>
          <p:cNvPr id="151" name="Google Shape;151;g3efc474de77_4_20"/>
          <p:cNvPicPr preferRelativeResize="0"/>
          <p:nvPr/>
        </p:nvPicPr>
        <p:blipFill rotWithShape="1">
          <a:blip r:embed="rId5">
            <a:alphaModFix/>
          </a:blip>
          <a:srcRect b="30509" l="0" r="0" t="29007"/>
          <a:stretch/>
        </p:blipFill>
        <p:spPr>
          <a:xfrm>
            <a:off x="7385550" y="4712028"/>
            <a:ext cx="4353777" cy="922574"/>
          </a:xfrm>
          <a:prstGeom prst="rect">
            <a:avLst/>
          </a:prstGeom>
          <a:noFill/>
          <a:ln>
            <a:noFill/>
          </a:ln>
        </p:spPr>
      </p:pic>
      <p:pic>
        <p:nvPicPr>
          <p:cNvPr id="152" name="Google Shape;152;g3efc474de77_4_20" title="Nina Slide 1.mp3">
            <a:hlinkClick r:id="rId6"/>
          </p:cNvPr>
          <p:cNvPicPr preferRelativeResize="0"/>
          <p:nvPr/>
        </p:nvPicPr>
        <p:blipFill>
          <a:blip r:embed="rId7">
            <a:alphaModFix/>
          </a:blip>
          <a:stretch>
            <a:fillRect/>
          </a:stretch>
        </p:blipFill>
        <p:spPr>
          <a:xfrm>
            <a:off x="152400" y="6329225"/>
            <a:ext cx="376375" cy="376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efc474de77_4_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000"/>
              <a:t>What are the company’s future prospects? Where are they headed?</a:t>
            </a:r>
            <a:endParaRPr b="1" sz="5500"/>
          </a:p>
        </p:txBody>
      </p:sp>
      <p:sp>
        <p:nvSpPr>
          <p:cNvPr id="158" name="Google Shape;158;g3efc474de77_4_30"/>
          <p:cNvSpPr txBox="1"/>
          <p:nvPr>
            <p:ph idx="1" type="body"/>
          </p:nvPr>
        </p:nvSpPr>
        <p:spPr>
          <a:xfrm>
            <a:off x="838200" y="1536125"/>
            <a:ext cx="10515600" cy="873300"/>
          </a:xfrm>
          <a:prstGeom prst="rect">
            <a:avLst/>
          </a:prstGeom>
        </p:spPr>
        <p:txBody>
          <a:bodyPr anchorCtr="0" anchor="t" bIns="45700" lIns="91425" spcFirstLastPara="1" rIns="91425" wrap="square" tIns="45700">
            <a:normAutofit/>
          </a:bodyPr>
          <a:lstStyle/>
          <a:p>
            <a:pPr indent="0" lvl="0" marL="0" rtl="0" algn="l">
              <a:spcBef>
                <a:spcPts val="1000"/>
              </a:spcBef>
              <a:spcAft>
                <a:spcPts val="1600"/>
              </a:spcAft>
              <a:buNone/>
            </a:pPr>
            <a:r>
              <a:rPr lang="en-US" sz="2600"/>
              <a:t>Development and application of GenAI into operations and administrative work.</a:t>
            </a:r>
            <a:endParaRPr sz="2600"/>
          </a:p>
        </p:txBody>
      </p:sp>
      <p:sp>
        <p:nvSpPr>
          <p:cNvPr id="159" name="Google Shape;159;g3efc474de77_4_30"/>
          <p:cNvSpPr/>
          <p:nvPr/>
        </p:nvSpPr>
        <p:spPr>
          <a:xfrm>
            <a:off x="1340575" y="3216675"/>
            <a:ext cx="3644100" cy="3182400"/>
          </a:xfrm>
          <a:prstGeom prst="rightArrowCallout">
            <a:avLst>
              <a:gd fmla="val 25000" name="adj1"/>
              <a:gd fmla="val 25000" name="adj2"/>
              <a:gd fmla="val 25000" name="adj3"/>
              <a:gd fmla="val 64977" name="adj4"/>
            </a:avLst>
          </a:prstGeom>
          <a:solidFill>
            <a:schemeClr val="accent1"/>
          </a:solidFill>
          <a:ln cap="flat" cmpd="sng" w="8550">
            <a:solidFill>
              <a:srgbClr val="373C49"/>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lnSpc>
                <a:spcPct val="90000"/>
              </a:lnSpc>
              <a:spcBef>
                <a:spcPts val="897"/>
              </a:spcBef>
              <a:spcAft>
                <a:spcPts val="0"/>
              </a:spcAft>
              <a:buNone/>
            </a:pPr>
            <a:r>
              <a:rPr b="1" lang="en-US" sz="2143">
                <a:solidFill>
                  <a:schemeClr val="lt1"/>
                </a:solidFill>
                <a:latin typeface="Roboto"/>
                <a:ea typeface="Roboto"/>
                <a:cs typeface="Roboto"/>
                <a:sym typeface="Roboto"/>
              </a:rPr>
              <a:t>Review mode</a:t>
            </a:r>
            <a:endParaRPr b="1" sz="2143">
              <a:solidFill>
                <a:schemeClr val="lt1"/>
              </a:solidFill>
              <a:latin typeface="Roboto"/>
              <a:ea typeface="Roboto"/>
              <a:cs typeface="Roboto"/>
              <a:sym typeface="Roboto"/>
            </a:endParaRPr>
          </a:p>
          <a:p>
            <a:pPr indent="0" lvl="0" marL="0" rtl="0" algn="ctr">
              <a:spcBef>
                <a:spcPts val="1435"/>
              </a:spcBef>
              <a:spcAft>
                <a:spcPts val="0"/>
              </a:spcAft>
              <a:buNone/>
            </a:pPr>
            <a:r>
              <a:t/>
            </a:r>
            <a:endParaRPr sz="1256">
              <a:solidFill>
                <a:schemeClr val="lt1"/>
              </a:solidFill>
              <a:latin typeface="Roboto"/>
              <a:ea typeface="Roboto"/>
              <a:cs typeface="Roboto"/>
              <a:sym typeface="Roboto"/>
            </a:endParaRPr>
          </a:p>
        </p:txBody>
      </p:sp>
      <p:sp>
        <p:nvSpPr>
          <p:cNvPr id="160" name="Google Shape;160;g3efc474de77_4_30"/>
          <p:cNvSpPr/>
          <p:nvPr/>
        </p:nvSpPr>
        <p:spPr>
          <a:xfrm>
            <a:off x="5071368" y="3216675"/>
            <a:ext cx="3644100" cy="3182400"/>
          </a:xfrm>
          <a:prstGeom prst="rightArrowCallout">
            <a:avLst>
              <a:gd fmla="val 25000" name="adj1"/>
              <a:gd fmla="val 25000" name="adj2"/>
              <a:gd fmla="val 25000" name="adj3"/>
              <a:gd fmla="val 64977" name="adj4"/>
            </a:avLst>
          </a:prstGeom>
          <a:solidFill>
            <a:schemeClr val="accent5"/>
          </a:solidFill>
          <a:ln cap="flat" cmpd="sng" w="8550">
            <a:solidFill>
              <a:srgbClr val="373C49"/>
            </a:solidFill>
            <a:prstDash val="solid"/>
            <a:round/>
            <a:headEnd len="sm" w="sm" type="none"/>
            <a:tailEnd len="sm" w="sm" type="none"/>
          </a:ln>
        </p:spPr>
        <p:txBody>
          <a:bodyPr anchorCtr="0" anchor="ctr" bIns="82025" lIns="82025" spcFirstLastPara="1" rIns="82025" wrap="square" tIns="82025">
            <a:noAutofit/>
          </a:bodyPr>
          <a:lstStyle/>
          <a:p>
            <a:pPr indent="0" lvl="0" marL="0" rtl="0" algn="l">
              <a:lnSpc>
                <a:spcPct val="90000"/>
              </a:lnSpc>
              <a:spcBef>
                <a:spcPts val="897"/>
              </a:spcBef>
              <a:spcAft>
                <a:spcPts val="0"/>
              </a:spcAft>
              <a:buNone/>
            </a:pPr>
            <a:r>
              <a:t/>
            </a:r>
            <a:endParaRPr b="1" sz="1963">
              <a:solidFill>
                <a:schemeClr val="dk2"/>
              </a:solidFill>
              <a:latin typeface="Roboto"/>
              <a:ea typeface="Roboto"/>
              <a:cs typeface="Roboto"/>
              <a:sym typeface="Roboto"/>
            </a:endParaRPr>
          </a:p>
          <a:p>
            <a:pPr indent="410157" lvl="0" marL="0" rtl="0" algn="l">
              <a:lnSpc>
                <a:spcPct val="90000"/>
              </a:lnSpc>
              <a:spcBef>
                <a:spcPts val="1435"/>
              </a:spcBef>
              <a:spcAft>
                <a:spcPts val="0"/>
              </a:spcAft>
              <a:buNone/>
            </a:pPr>
            <a:r>
              <a:rPr b="1" lang="en-US" sz="2143">
                <a:solidFill>
                  <a:schemeClr val="lt1"/>
                </a:solidFill>
                <a:latin typeface="Roboto"/>
                <a:ea typeface="Roboto"/>
                <a:cs typeface="Roboto"/>
                <a:sym typeface="Roboto"/>
              </a:rPr>
              <a:t>Co-pilot mode</a:t>
            </a:r>
            <a:endParaRPr b="1" sz="2143">
              <a:solidFill>
                <a:schemeClr val="lt1"/>
              </a:solidFill>
              <a:latin typeface="Roboto"/>
              <a:ea typeface="Roboto"/>
              <a:cs typeface="Roboto"/>
              <a:sym typeface="Roboto"/>
            </a:endParaRPr>
          </a:p>
          <a:p>
            <a:pPr indent="0" lvl="0" marL="410157" rtl="0" algn="l">
              <a:lnSpc>
                <a:spcPct val="90000"/>
              </a:lnSpc>
              <a:spcBef>
                <a:spcPts val="1435"/>
              </a:spcBef>
              <a:spcAft>
                <a:spcPts val="0"/>
              </a:spcAft>
              <a:buNone/>
            </a:pPr>
            <a:r>
              <a:t/>
            </a:r>
            <a:endParaRPr sz="2063">
              <a:solidFill>
                <a:schemeClr val="dk2"/>
              </a:solidFill>
              <a:latin typeface="Roboto"/>
              <a:ea typeface="Roboto"/>
              <a:cs typeface="Roboto"/>
              <a:sym typeface="Roboto"/>
            </a:endParaRPr>
          </a:p>
          <a:p>
            <a:pPr indent="0" lvl="0" marL="0" rtl="0" algn="ctr">
              <a:spcBef>
                <a:spcPts val="1435"/>
              </a:spcBef>
              <a:spcAft>
                <a:spcPts val="0"/>
              </a:spcAft>
              <a:buNone/>
            </a:pPr>
            <a:r>
              <a:t/>
            </a:r>
            <a:endParaRPr sz="1256">
              <a:solidFill>
                <a:schemeClr val="lt1"/>
              </a:solidFill>
              <a:latin typeface="Roboto"/>
              <a:ea typeface="Roboto"/>
              <a:cs typeface="Roboto"/>
              <a:sym typeface="Roboto"/>
            </a:endParaRPr>
          </a:p>
        </p:txBody>
      </p:sp>
      <p:sp>
        <p:nvSpPr>
          <p:cNvPr id="161" name="Google Shape;161;g3efc474de77_4_30"/>
          <p:cNvSpPr/>
          <p:nvPr/>
        </p:nvSpPr>
        <p:spPr>
          <a:xfrm>
            <a:off x="8802161" y="3216675"/>
            <a:ext cx="2286000" cy="3182400"/>
          </a:xfrm>
          <a:prstGeom prst="rect">
            <a:avLst/>
          </a:prstGeom>
          <a:solidFill>
            <a:srgbClr val="CC0000"/>
          </a:solidFill>
          <a:ln cap="flat" cmpd="sng" w="8550">
            <a:solidFill>
              <a:schemeClr val="dk2"/>
            </a:solidFill>
            <a:prstDash val="solid"/>
            <a:round/>
            <a:headEnd len="sm" w="sm" type="none"/>
            <a:tailEnd len="sm" w="sm" type="none"/>
          </a:ln>
        </p:spPr>
        <p:txBody>
          <a:bodyPr anchorCtr="0" anchor="ctr" bIns="82025" lIns="82025" spcFirstLastPara="1" rIns="82025" wrap="square" tIns="82025">
            <a:noAutofit/>
          </a:bodyPr>
          <a:lstStyle/>
          <a:p>
            <a:pPr indent="0" lvl="0" marL="0" rtl="0" algn="ctr">
              <a:lnSpc>
                <a:spcPct val="90000"/>
              </a:lnSpc>
              <a:spcBef>
                <a:spcPts val="897"/>
              </a:spcBef>
              <a:spcAft>
                <a:spcPts val="0"/>
              </a:spcAft>
              <a:buNone/>
            </a:pPr>
            <a:r>
              <a:rPr b="1" lang="en-US" sz="2332">
                <a:solidFill>
                  <a:schemeClr val="lt1"/>
                </a:solidFill>
                <a:latin typeface="Roboto"/>
                <a:ea typeface="Roboto"/>
                <a:cs typeface="Roboto"/>
                <a:sym typeface="Roboto"/>
              </a:rPr>
              <a:t>Autonomous mode</a:t>
            </a:r>
            <a:endParaRPr b="1" sz="2332">
              <a:solidFill>
                <a:schemeClr val="lt1"/>
              </a:solidFill>
              <a:latin typeface="Roboto"/>
              <a:ea typeface="Roboto"/>
              <a:cs typeface="Roboto"/>
              <a:sym typeface="Roboto"/>
            </a:endParaRPr>
          </a:p>
          <a:p>
            <a:pPr indent="0" lvl="0" marL="0" rtl="0" algn="ctr">
              <a:spcBef>
                <a:spcPts val="1435"/>
              </a:spcBef>
              <a:spcAft>
                <a:spcPts val="0"/>
              </a:spcAft>
              <a:buNone/>
            </a:pPr>
            <a:r>
              <a:t/>
            </a:r>
            <a:endParaRPr sz="1256">
              <a:solidFill>
                <a:schemeClr val="lt1"/>
              </a:solidFill>
              <a:latin typeface="Roboto"/>
              <a:ea typeface="Roboto"/>
              <a:cs typeface="Roboto"/>
              <a:sym typeface="Roboto"/>
            </a:endParaRPr>
          </a:p>
        </p:txBody>
      </p:sp>
      <p:pic>
        <p:nvPicPr>
          <p:cNvPr id="162" name="Google Shape;162;g3efc474de77_4_30" title="slide 2 Edited.mp3">
            <a:hlinkClick r:id="rId3"/>
          </p:cNvPr>
          <p:cNvPicPr preferRelativeResize="0"/>
          <p:nvPr/>
        </p:nvPicPr>
        <p:blipFill>
          <a:blip r:embed="rId4">
            <a:alphaModFix/>
          </a:blip>
          <a:stretch>
            <a:fillRect/>
          </a:stretch>
        </p:blipFill>
        <p:spPr>
          <a:xfrm>
            <a:off x="232150" y="6240450"/>
            <a:ext cx="212950" cy="212950"/>
          </a:xfrm>
          <a:prstGeom prst="rect">
            <a:avLst/>
          </a:prstGeom>
          <a:noFill/>
          <a:ln>
            <a:noFill/>
          </a:ln>
        </p:spPr>
      </p:pic>
      <p:sp>
        <p:nvSpPr>
          <p:cNvPr id="163" name="Google Shape;163;g3efc474de77_4_30"/>
          <p:cNvSpPr txBox="1"/>
          <p:nvPr/>
        </p:nvSpPr>
        <p:spPr>
          <a:xfrm>
            <a:off x="1497375" y="2425750"/>
            <a:ext cx="9463500" cy="74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accent1"/>
                </a:solidFill>
                <a:latin typeface="Roboto"/>
                <a:ea typeface="Roboto"/>
                <a:cs typeface="Roboto"/>
                <a:sym typeface="Roboto"/>
              </a:rPr>
              <a:t>Three Phase Plan</a:t>
            </a:r>
            <a:endParaRPr b="1" sz="3000">
              <a:solidFill>
                <a:schemeClr val="accent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fee452e6e_2_0"/>
          <p:cNvSpPr txBox="1"/>
          <p:nvPr>
            <p:ph type="title"/>
          </p:nvPr>
        </p:nvSpPr>
        <p:spPr>
          <a:xfrm>
            <a:off x="838200" y="317397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Thank You for Listening</a:t>
            </a:r>
            <a:endParaRPr/>
          </a:p>
        </p:txBody>
      </p:sp>
      <p:pic>
        <p:nvPicPr>
          <p:cNvPr id="169" name="Google Shape;169;g3efee452e6e_2_0" title="Ending.mp3">
            <a:hlinkClick r:id="rId3"/>
          </p:cNvPr>
          <p:cNvPicPr preferRelativeResize="0"/>
          <p:nvPr/>
        </p:nvPicPr>
        <p:blipFill>
          <a:blip r:embed="rId4">
            <a:alphaModFix/>
          </a:blip>
          <a:stretch>
            <a:fillRect/>
          </a:stretch>
        </p:blipFill>
        <p:spPr>
          <a:xfrm>
            <a:off x="232150" y="6113275"/>
            <a:ext cx="457200" cy="45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2026-06-28T21:04:51Z</dcterms:created>
  <dc:creator>Lo, Yzut (Yatza)</dc:creator>
</cp:coreProperties>
</file>